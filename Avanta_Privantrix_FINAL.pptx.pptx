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ptos" charset="1" panose="020B0004020202020204"/>
      <p:regular r:id="rId24"/>
    </p:embeddedFont>
    <p:embeddedFont>
      <p:font typeface="Aptos Bold" charset="1" panose="020B0004020202020204"/>
      <p:regular r:id="rId25"/>
    </p:embeddedFont>
    <p:embeddedFont>
      <p:font typeface="Georgia" charset="1" panose="020405020504050203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39" Target="notesSlides/notesSlide14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A clearer trust decision for every software change.</a:t>
            </a:r>
          </a:p>
          <a:p>
            <a:r>
              <a:rPr lang="en-US"/>
              <a:t>Explanation: A clearer trust decision for every software change. Help teams see why a software change deserves trust.</a:t>
            </a:r>
          </a:p>
          <a:p>
            <a:r>
              <a:rPr lang="en-US"/>
              <a:t>Handoff: Start with the situation that led to the project.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Aryan Kashyap</a:t>
            </a:r>
          </a:p>
          <a:p>
            <a:r>
              <a:rPr lang="en-US"/>
              <a:t>Opening: Writing the change is only the start of the decision.</a:t>
            </a:r>
          </a:p>
          <a:p>
            <a:r>
              <a:rPr lang="en-US"/>
              <a:t>Explanation: A developer reviews code under release pressure. Tests, scanner findings and code context need to be assembled. The reviewer needs a clear reason to approve or reject. The output should support a decision, not just add another log.</a:t>
            </a:r>
          </a:p>
          <a:p>
            <a:r>
              <a:rPr lang="en-US"/>
              <a:t>Handoff: That gives us the gap to address.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Aryan Kashyap</a:t>
            </a:r>
          </a:p>
          <a:p>
            <a:r>
              <a:rPr lang="en-US"/>
              <a:t>Opening: Writing the change is only the start of the decision.</a:t>
            </a:r>
          </a:p>
          <a:p>
            <a:r>
              <a:rPr lang="en-US"/>
              <a:t>Explanation: A developer reviews code under release pressure. Tests, scanner findings and code context need to be assembled. The reviewer needs a clear reason to approve or reject. The output should support a decision, not just add another log.</a:t>
            </a:r>
          </a:p>
          <a:p>
            <a:r>
              <a:rPr lang="en-US"/>
              <a:t>Handoff: That gives us the gap to address.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Aryan Kashyap</a:t>
            </a:r>
          </a:p>
          <a:p>
            <a:r>
              <a:rPr lang="en-US"/>
              <a:t>Opening: The tools contribute evidence. The reviewer needs a decision.</a:t>
            </a:r>
          </a:p>
          <a:p>
            <a:r>
              <a:rPr lang="en-US"/>
              <a:t>Explanation: Avanta brings the outputs into one evidence-linked review workflow. The comparison is about the role each approach plays in the workflow.</a:t>
            </a:r>
          </a:p>
          <a:p>
            <a:r>
              <a:rPr lang="en-US"/>
              <a:t>Handoff: Here is how the system connects those needs.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Connect the change, the checks and the human decision.</a:t>
            </a:r>
          </a:p>
          <a:p>
            <a:r>
              <a:rPr lang="en-US"/>
              <a:t>Explanation: Verified changes inform the next review through private engineering memory. Follow the diagram from input to the person who makes the decision.</a:t>
            </a:r>
          </a:p>
          <a:p>
            <a:r>
              <a:rPr lang="en-US"/>
              <a:t>Handoff: Now look inside the architecture.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Reasoning proposes a repair. Verification sets the boundary.</a:t>
            </a:r>
          </a:p>
          <a:p>
            <a:r>
              <a:rPr lang="en-US"/>
              <a:t>Explanation: Architecture principle: a model proposes; checkable results support the trust decision. Each layer has a distinct responsibility within the system design.</a:t>
            </a:r>
          </a:p>
          <a:p>
            <a:r>
              <a:rPr lang="en-US"/>
              <a:t>Handoff: Next, look at the prototype and demonstration.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One controlled change defines the MVP demonstration.</a:t>
            </a:r>
          </a:p>
          <a:p>
            <a:r>
              <a:rPr lang="en-US"/>
              <a:t>Explanation: A controlled defect connects input, repair, verification and reviewer approval. Point to the numbered elements, then explain the next engineering milestone: Run the assurance loop end to end on one controlled case.</a:t>
            </a:r>
          </a:p>
          <a:p>
            <a:r>
              <a:rPr lang="en-US"/>
              <a:t>Handoff: Return to the person using the system.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Aryan Kashyap</a:t>
            </a:r>
          </a:p>
          <a:p>
            <a:r>
              <a:rPr lang="en-US"/>
              <a:t>Opening: Build around the people responsible for a release.</a:t>
            </a:r>
          </a:p>
          <a:p>
            <a:r>
              <a:rPr lang="en-US"/>
              <a:t>Explanation: Use the journey beneath the three user groups to show how information becomes an action.</a:t>
            </a:r>
          </a:p>
          <a:p>
            <a:r>
              <a:rPr lang="en-US"/>
              <a:t>Handoff: That leads to the outcomes we want to measure.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Measure review quality alongside review speed.</a:t>
            </a:r>
          </a:p>
          <a:p>
            <a:r>
              <a:rPr lang="en-US"/>
              <a:t>Explanation: These are expected benefits. The validation plan measures triage time, repair success, incorrect approvals, review effort. Each metric answers a different engineering question.</a:t>
            </a:r>
          </a:p>
          <a:p>
            <a:r>
              <a:rPr lang="en-US"/>
              <a:t>Handoff: Those measurements shape the deployment path.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Start with one assurance loop and grow from there.</a:t>
            </a:r>
          </a:p>
          <a:p>
            <a:r>
              <a:rPr lang="en-US"/>
              <a:t>Explanation: A staged service model pairs a bounded pilot with integration and ongoing support. Each stage prepares the system for the next level of use.</a:t>
            </a:r>
          </a:p>
          <a:p>
            <a:r>
              <a:rPr lang="en-US"/>
              <a:t>Handoff: The next question is what can fail and how we respond.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Automation must preserve control when a check fails.</a:t>
            </a:r>
          </a:p>
          <a:p>
            <a:r>
              <a:rPr lang="en-US"/>
              <a:t>Explanation: The risk table links a concrete failure to an engineering response. Follow the scale path only as each stage meets its validation priorities.</a:t>
            </a:r>
          </a:p>
          <a:p>
            <a:r>
              <a:rPr lang="en-US"/>
              <a:t>Handoff: These choices explain what makes the design distinctive.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Context, verification and approval belong in one workflow.</a:t>
            </a:r>
          </a:p>
          <a:p>
            <a:r>
              <a:rPr lang="en-US"/>
              <a:t>Explanation: Rudra links code context with candidate repair. Verification results accompany the proposed change. A human gate closes the assurance loop. The future direction continues this engineering focus.</a:t>
            </a:r>
          </a:p>
          <a:p>
            <a:r>
              <a:rPr lang="en-US"/>
              <a:t>Handoff: The next step belongs to our team.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Build software trust that a person can inspect.</a:t>
            </a:r>
          </a:p>
          <a:p>
            <a:r>
              <a:rPr lang="en-US"/>
              <a:t>Explanation: Help teams see why a software change deserves trust. Close by inviting feedback on the next engineering milestone.</a:t>
            </a:r>
          </a:p>
          <a:p>
            <a:r>
              <a:rPr lang="en-US"/>
              <a:t>Handoff: Thank you. We welcome your questions.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Speaker: Pranav Kumar Mishra</a:t>
            </a:r>
          </a:p>
          <a:p>
            <a:r>
              <a:rPr lang="en-US"/>
              <a:t>Opening: Build software trust that a person can inspect.</a:t>
            </a:r>
          </a:p>
          <a:p>
            <a:r>
              <a:rPr lang="en-US"/>
              <a:t>Explanation: Help teams see why a software change deserves trust. Close by inviting feedback on the next engineering milestone.</a:t>
            </a:r>
          </a:p>
          <a:p>
            <a:r>
              <a:rPr lang="en-US"/>
              <a:t>Handoff: Thank you. We welcome your questions.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VAHUtwgBo8k.mp4" Type="http://schemas.openxmlformats.org/officeDocument/2006/relationships/video"/><Relationship Id="rId5" Target="../media/VAHUtwgBo8k.mp4" Type="http://schemas.microsoft.com/office/2007/relationships/media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1.jpeg" Type="http://schemas.openxmlformats.org/officeDocument/2006/relationships/image"/><Relationship Id="rId5" Target="../media/VAHUtwgBo8k.mp4" Type="http://schemas.openxmlformats.org/officeDocument/2006/relationships/video"/><Relationship Id="rId6" Target="../media/VAHUtwgBo8k.mp4" Type="http://schemas.microsoft.com/office/2007/relationships/media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1.jpeg" Type="http://schemas.openxmlformats.org/officeDocument/2006/relationships/image"/><Relationship Id="rId5" Target="../media/VAHUtwgBo8k.mp4" Type="http://schemas.openxmlformats.org/officeDocument/2006/relationships/video"/><Relationship Id="rId6" Target="../media/VAHUtwgBo8k.mp4" Type="http://schemas.microsoft.com/office/2007/relationships/media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VAHUtwgBo8k.mp4" Type="http://schemas.openxmlformats.org/officeDocument/2006/relationships/video"/><Relationship Id="rId5" Target="../media/VAHUtwgBo8k.mp4" Type="http://schemas.microsoft.com/office/2007/relationships/media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1.jpeg" Type="http://schemas.openxmlformats.org/officeDocument/2006/relationships/image"/><Relationship Id="rId5" Target="../media/VAHUtwgBo8k.mp4" Type="http://schemas.openxmlformats.org/officeDocument/2006/relationships/video"/><Relationship Id="rId6" Target="../media/VAHUtwgBo8k.mp4" Type="http://schemas.microsoft.com/office/2007/relationships/media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VAHUtwgBo8k.mp4" Type="http://schemas.openxmlformats.org/officeDocument/2006/relationships/video"/><Relationship Id="rId5" Target="../media/VAHUtwgBo8k.mp4" Type="http://schemas.microsoft.com/office/2007/relationships/media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1.jpeg" Type="http://schemas.openxmlformats.org/officeDocument/2006/relationships/image"/><Relationship Id="rId5" Target="../media/VAHUtwgBo8k.mp4" Type="http://schemas.openxmlformats.org/officeDocument/2006/relationships/video"/><Relationship Id="rId6" Target="../media/VAHUtwgBo8k.mp4" Type="http://schemas.microsoft.com/office/2007/relationships/media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VAHUtwgBo8k.mp4" Type="http://schemas.openxmlformats.org/officeDocument/2006/relationships/video"/><Relationship Id="rId5" Target="../media/VAHUtwgBo8k.mp4" Type="http://schemas.microsoft.com/office/2007/relationships/media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UtwgBo8k.mp4" Type="http://schemas.microsoft.com/office/2007/relationships/media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.jpeg" Type="http://schemas.openxmlformats.org/officeDocument/2006/relationships/image"/><Relationship Id="rId9" Target="../media/VAHUtwgBo8k.mp4" Type="http://schemas.openxmlformats.org/officeDocument/2006/relationships/video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1.jpeg" Type="http://schemas.openxmlformats.org/officeDocument/2006/relationships/image"/><Relationship Id="rId5" Target="../media/VAHUtwgBo8k.mp4" Type="http://schemas.openxmlformats.org/officeDocument/2006/relationships/video"/><Relationship Id="rId6" Target="../media/VAHUtwgBo8k.mp4" Type="http://schemas.microsoft.com/office/2007/relationships/media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VAHUtwgBo8k.mp4" Type="http://schemas.openxmlformats.org/officeDocument/2006/relationships/video"/><Relationship Id="rId5" Target="../media/VAHUtwgBo8k.mp4" Type="http://schemas.microsoft.com/office/2007/relationships/media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VAHUtwgBo8k.mp4" Type="http://schemas.openxmlformats.org/officeDocument/2006/relationships/video"/><Relationship Id="rId5" Target="../media/VAHUtwgBo8k.mp4" Type="http://schemas.microsoft.com/office/2007/relationships/media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VAHUtwgBo8k.mp4" Type="http://schemas.openxmlformats.org/officeDocument/2006/relationships/video"/><Relationship Id="rId5" Target="../media/VAHUtwgBo8k.mp4" Type="http://schemas.microsoft.com/office/2007/relationships/media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VAHUtwgBo8k.mp4" Type="http://schemas.openxmlformats.org/officeDocument/2006/relationships/video"/><Relationship Id="rId5" Target="../media/VAHUtwgBo8k.mp4" Type="http://schemas.microsoft.com/office/2007/relationships/media"/><Relationship Id="rId6" Target="https://www.usenix.org/conference/usenixsecurity26/presentation/wu-weiheng?utm_source=chatgpt.com" TargetMode="External" Type="http://schemas.openxmlformats.org/officeDocument/2006/relationships/hyperlink"/><Relationship Id="rId7" Target="https://www.usenix.org/conference/usenixsecurity25/cycle1-accepted-papers?utm_source=chatgpt.com" TargetMode="External" Type="http://schemas.openxmlformats.org/officeDocument/2006/relationships/hyperlink"/><Relationship Id="rId8" Target="https://arxiv.org/abs/2505.04843?utm_source=chatgpt.com" TargetMode="External" Type="http://schemas.openxmlformats.org/officeDocument/2006/relationships/hyperlink"/><Relationship Id="rId9" Target="https://www.usenix.org/conference/usenixsecurity25/presentation/deng?utm_source=chatgpt.com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jpeg" Type="http://schemas.openxmlformats.org/officeDocument/2006/relationships/image"/><Relationship Id="rId5" Target="../media/VAHUtwgBo8k.mp4" Type="http://schemas.openxmlformats.org/officeDocument/2006/relationships/video"/><Relationship Id="rId6" Target="../media/VAHUtwgBo8k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580">
            <a:off x="9709147" y="2224088"/>
            <a:ext cx="7785106" cy="0"/>
          </a:xfrm>
          <a:prstGeom prst="line">
            <a:avLst/>
          </a:prstGeom>
          <a:ln cap="rnd" w="9525">
            <a:solidFill>
              <a:srgbClr val="A45F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580">
            <a:off x="9709147" y="4281488"/>
            <a:ext cx="7785106" cy="0"/>
          </a:xfrm>
          <a:prstGeom prst="line">
            <a:avLst/>
          </a:prstGeom>
          <a:ln cap="rnd" w="9525">
            <a:solidFill>
              <a:srgbClr val="A45F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580">
            <a:off x="9709147" y="6338888"/>
            <a:ext cx="7785106" cy="0"/>
          </a:xfrm>
          <a:prstGeom prst="line">
            <a:avLst/>
          </a:prstGeom>
          <a:ln cap="rnd" w="9525">
            <a:solidFill>
              <a:srgbClr val="A45F3D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2907" t="0" r="2907" b="5814"/>
          <a:stretch>
            <a:fillRect/>
          </a:stretch>
        </p:blipFill>
        <p:spPr>
          <a:xfrm flipH="false" flipV="false" rot="0">
            <a:off x="15428270" y="196301"/>
            <a:ext cx="2279363" cy="683809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AVANTA / PRIVANTRIX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01 / 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2925" y="1923097"/>
            <a:ext cx="8229600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AVANTA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6599" y="3994785"/>
            <a:ext cx="7315200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sz="3624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A clearer trust decision</a:t>
            </a:r>
          </a:p>
          <a:p>
            <a:pPr algn="l">
              <a:lnSpc>
                <a:spcPts val="4349"/>
              </a:lnSpc>
            </a:pPr>
            <a:r>
              <a:rPr lang="en-US" sz="3624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for every software change.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15500" y="2480310"/>
            <a:ext cx="7772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CHANGE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15500" y="3042285"/>
            <a:ext cx="77724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Code and context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15500" y="4537710"/>
            <a:ext cx="7772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CHECKS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15500" y="5099685"/>
            <a:ext cx="77724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Tests and security signals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5500" y="6595110"/>
            <a:ext cx="7772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DECISION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15500" y="7157085"/>
            <a:ext cx="77724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Evidence and human approval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2950" y="6195060"/>
            <a:ext cx="7543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TEAM PRIVANTRIX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2950" y="6755130"/>
            <a:ext cx="782955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Pranav Kumar Mishra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2950" y="7189470"/>
            <a:ext cx="782955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Team Lead / System Architect / Lead Developer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2950" y="7680960"/>
            <a:ext cx="782955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Aryan Kashyap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2950" y="8115300"/>
            <a:ext cx="7829550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Research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2950" y="8972550"/>
            <a:ext cx="16802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Theme: Cybersecurity, Ethical Tech &amp; Engineering Intelligence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02 / PROBLEM &amp; OPPORTUNITY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Writing the change is only the start of the decision.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AVANTA / PRIVANTRIX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02 / 12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35806" y="2907506"/>
            <a:ext cx="608648" cy="608648"/>
            <a:chOff x="0" y="0"/>
            <a:chExt cx="811530" cy="8115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1530" cy="811530"/>
            </a:xfrm>
            <a:custGeom>
              <a:avLst/>
              <a:gdLst/>
              <a:ahLst/>
              <a:cxnLst/>
              <a:rect r="r" b="b" t="t" l="l"/>
              <a:pathLst>
                <a:path h="811530" w="811530">
                  <a:moveTo>
                    <a:pt x="0" y="405765"/>
                  </a:moveTo>
                  <a:cubicBezTo>
                    <a:pt x="0" y="181610"/>
                    <a:pt x="181610" y="0"/>
                    <a:pt x="405765" y="0"/>
                  </a:cubicBezTo>
                  <a:cubicBezTo>
                    <a:pt x="629920" y="0"/>
                    <a:pt x="811530" y="181610"/>
                    <a:pt x="811530" y="405765"/>
                  </a:cubicBezTo>
                  <a:cubicBezTo>
                    <a:pt x="811530" y="629920"/>
                    <a:pt x="629920" y="811530"/>
                    <a:pt x="405765" y="811530"/>
                  </a:cubicBezTo>
                  <a:cubicBezTo>
                    <a:pt x="181610" y="811530"/>
                    <a:pt x="0" y="629920"/>
                    <a:pt x="0" y="40576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A45F3D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42950" y="2931795"/>
            <a:ext cx="594360" cy="560070"/>
            <a:chOff x="0" y="0"/>
            <a:chExt cx="792480" cy="746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2480" cy="746760"/>
            </a:xfrm>
            <a:custGeom>
              <a:avLst/>
              <a:gdLst/>
              <a:ahLst/>
              <a:cxnLst/>
              <a:rect r="r" b="b" t="t" l="l"/>
              <a:pathLst>
                <a:path h="74676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46760"/>
                  </a:lnTo>
                  <a:lnTo>
                    <a:pt x="0" y="746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901" t="0" r="-70901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792480" cy="746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A45F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14500" y="2914650"/>
            <a:ext cx="8115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A change arrives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14500" y="3533775"/>
            <a:ext cx="8001000" cy="95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A developer reviews code under release pressure.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35806" y="4576286"/>
            <a:ext cx="608648" cy="608648"/>
            <a:chOff x="0" y="0"/>
            <a:chExt cx="811530" cy="8115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1530" cy="811530"/>
            </a:xfrm>
            <a:custGeom>
              <a:avLst/>
              <a:gdLst/>
              <a:ahLst/>
              <a:cxnLst/>
              <a:rect r="r" b="b" t="t" l="l"/>
              <a:pathLst>
                <a:path h="811530" w="811530">
                  <a:moveTo>
                    <a:pt x="0" y="405765"/>
                  </a:moveTo>
                  <a:cubicBezTo>
                    <a:pt x="0" y="181610"/>
                    <a:pt x="181610" y="0"/>
                    <a:pt x="405765" y="0"/>
                  </a:cubicBezTo>
                  <a:cubicBezTo>
                    <a:pt x="629920" y="0"/>
                    <a:pt x="811530" y="181610"/>
                    <a:pt x="811530" y="405765"/>
                  </a:cubicBezTo>
                  <a:cubicBezTo>
                    <a:pt x="811530" y="629920"/>
                    <a:pt x="629920" y="811530"/>
                    <a:pt x="405765" y="811530"/>
                  </a:cubicBezTo>
                  <a:cubicBezTo>
                    <a:pt x="181610" y="811530"/>
                    <a:pt x="0" y="629920"/>
                    <a:pt x="0" y="40576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A45F3D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42950" y="4600575"/>
            <a:ext cx="594360" cy="560070"/>
            <a:chOff x="0" y="0"/>
            <a:chExt cx="792480" cy="746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2480" cy="746760"/>
            </a:xfrm>
            <a:custGeom>
              <a:avLst/>
              <a:gdLst/>
              <a:ahLst/>
              <a:cxnLst/>
              <a:rect r="r" b="b" t="t" l="l"/>
              <a:pathLst>
                <a:path h="74676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46760"/>
                  </a:lnTo>
                  <a:lnTo>
                    <a:pt x="0" y="746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901" t="0" r="-7090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92480" cy="746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A45F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14500" y="4583430"/>
            <a:ext cx="8115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Signals sit apart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14500" y="5202555"/>
            <a:ext cx="8001000" cy="95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Tests, scanner findings and code context need to be assembled.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35806" y="6245066"/>
            <a:ext cx="608648" cy="608648"/>
            <a:chOff x="0" y="0"/>
            <a:chExt cx="811530" cy="8115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1530" cy="811530"/>
            </a:xfrm>
            <a:custGeom>
              <a:avLst/>
              <a:gdLst/>
              <a:ahLst/>
              <a:cxnLst/>
              <a:rect r="r" b="b" t="t" l="l"/>
              <a:pathLst>
                <a:path h="811530" w="811530">
                  <a:moveTo>
                    <a:pt x="0" y="405765"/>
                  </a:moveTo>
                  <a:cubicBezTo>
                    <a:pt x="0" y="181610"/>
                    <a:pt x="181610" y="0"/>
                    <a:pt x="405765" y="0"/>
                  </a:cubicBezTo>
                  <a:cubicBezTo>
                    <a:pt x="629920" y="0"/>
                    <a:pt x="811530" y="181610"/>
                    <a:pt x="811530" y="405765"/>
                  </a:cubicBezTo>
                  <a:cubicBezTo>
                    <a:pt x="811530" y="629920"/>
                    <a:pt x="629920" y="811530"/>
                    <a:pt x="405765" y="811530"/>
                  </a:cubicBezTo>
                  <a:cubicBezTo>
                    <a:pt x="181610" y="811530"/>
                    <a:pt x="0" y="629920"/>
                    <a:pt x="0" y="40576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A45F3D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42950" y="6269355"/>
            <a:ext cx="594360" cy="560070"/>
            <a:chOff x="0" y="0"/>
            <a:chExt cx="792480" cy="7467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2480" cy="746760"/>
            </a:xfrm>
            <a:custGeom>
              <a:avLst/>
              <a:gdLst/>
              <a:ahLst/>
              <a:cxnLst/>
              <a:rect r="r" b="b" t="t" l="l"/>
              <a:pathLst>
                <a:path h="74676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46760"/>
                  </a:lnTo>
                  <a:lnTo>
                    <a:pt x="0" y="746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901" t="0" r="-7090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792480" cy="746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A45F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714500" y="6252210"/>
            <a:ext cx="81153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Someone must decide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14500" y="6871335"/>
            <a:ext cx="8001000" cy="95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The reviewer needs a clear reason to approve or reject.</a:t>
            </a:r>
          </a:p>
        </p:txBody>
      </p:sp>
      <p:sp>
        <p:nvSpPr>
          <p:cNvPr name="AutoShape 28" id="28"/>
          <p:cNvSpPr/>
          <p:nvPr/>
        </p:nvSpPr>
        <p:spPr>
          <a:xfrm rot="6420">
            <a:off x="10737847" y="2967038"/>
            <a:ext cx="6813566" cy="0"/>
          </a:xfrm>
          <a:prstGeom prst="line">
            <a:avLst/>
          </a:prstGeom>
          <a:ln cap="rnd" w="9525">
            <a:solidFill>
              <a:srgbClr val="A45F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0744200" y="3419475"/>
            <a:ext cx="6629400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A45F3D"/>
                </a:solidFill>
                <a:latin typeface="Georgia"/>
                <a:ea typeface="Georgia"/>
                <a:cs typeface="Georgia"/>
                <a:sym typeface="Georgia"/>
              </a:rPr>
              <a:t>The output should support a decision, not just add another log.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44200" y="5966460"/>
            <a:ext cx="6629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SOFTWARE CHANGE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44200" y="6640830"/>
            <a:ext cx="6629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TECHNICAL CHECKS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744200" y="7315200"/>
            <a:ext cx="6629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HUMAN DECISION</a:t>
            </a:r>
          </a:p>
        </p:txBody>
      </p:sp>
      <p:pic>
        <p:nvPicPr>
          <p:cNvPr name="Picture 33" id="3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2907" t="0" r="2907" b="5814"/>
          <a:stretch>
            <a:fillRect/>
          </a:stretch>
        </p:blipFill>
        <p:spPr>
          <a:xfrm flipH="false" flipV="false" rot="0">
            <a:off x="15418745" y="196301"/>
            <a:ext cx="2279363" cy="6838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33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41064" cy="10260599"/>
          </a:xfrm>
          <a:custGeom>
            <a:avLst/>
            <a:gdLst/>
            <a:ahLst/>
            <a:cxnLst/>
            <a:rect r="r" b="b" t="t" l="l"/>
            <a:pathLst>
              <a:path h="10260599" w="18241064">
                <a:moveTo>
                  <a:pt x="0" y="0"/>
                </a:moveTo>
                <a:lnTo>
                  <a:pt x="18241064" y="0"/>
                </a:lnTo>
                <a:lnTo>
                  <a:pt x="18241064" y="10260599"/>
                </a:lnTo>
                <a:lnTo>
                  <a:pt x="0" y="102605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2907" t="0" r="2907" b="5814"/>
          <a:stretch>
            <a:fillRect/>
          </a:stretch>
        </p:blipFill>
        <p:spPr>
          <a:xfrm flipH="false" flipV="false" rot="0">
            <a:off x="15418745" y="196301"/>
            <a:ext cx="2279363" cy="6838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03 / EXISTING SOLUTIONS &amp; GAP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The tools contribute evidence. The reviewer needs a decision.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AVANTA / PRIVANTRIX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03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834640"/>
            <a:ext cx="37147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APPROACH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57700" y="2834640"/>
            <a:ext cx="59436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WHAT IT OFFERS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01300" y="2834640"/>
            <a:ext cx="71437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MISSION / WORKFLOW FIT</a:t>
            </a:r>
          </a:p>
        </p:txBody>
      </p:sp>
      <p:sp>
        <p:nvSpPr>
          <p:cNvPr name="AutoShape 10" id="10"/>
          <p:cNvSpPr/>
          <p:nvPr/>
        </p:nvSpPr>
        <p:spPr>
          <a:xfrm rot="2580">
            <a:off x="736597" y="341280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42950" y="3667125"/>
            <a:ext cx="3429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Coding assistants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57700" y="3667125"/>
            <a:ext cx="56578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Drafts and explanations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01300" y="3667125"/>
            <a:ext cx="6858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Correctness still needs checks.</a:t>
            </a:r>
          </a:p>
        </p:txBody>
      </p:sp>
      <p:sp>
        <p:nvSpPr>
          <p:cNvPr name="AutoShape 14" id="14"/>
          <p:cNvSpPr/>
          <p:nvPr/>
        </p:nvSpPr>
        <p:spPr>
          <a:xfrm rot="2580">
            <a:off x="736597" y="443007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742950" y="4638675"/>
            <a:ext cx="3429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Security scanners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57700" y="4638675"/>
            <a:ext cx="56578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Rule and dependency findings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01300" y="4638675"/>
            <a:ext cx="6858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Findings need context and triage.</a:t>
            </a:r>
          </a:p>
        </p:txBody>
      </p:sp>
      <p:sp>
        <p:nvSpPr>
          <p:cNvPr name="AutoShape 18" id="18"/>
          <p:cNvSpPr/>
          <p:nvPr/>
        </p:nvSpPr>
        <p:spPr>
          <a:xfrm rot="2580">
            <a:off x="736597" y="540162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742950" y="5610225"/>
            <a:ext cx="3429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CI / runtime tools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57700" y="5610225"/>
            <a:ext cx="56578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Behavior and operational signals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01300" y="5610225"/>
            <a:ext cx="6858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The reviewer connects the results.</a:t>
            </a:r>
          </a:p>
        </p:txBody>
      </p:sp>
      <p:sp>
        <p:nvSpPr>
          <p:cNvPr name="AutoShape 22" id="22"/>
          <p:cNvSpPr/>
          <p:nvPr/>
        </p:nvSpPr>
        <p:spPr>
          <a:xfrm rot="2580">
            <a:off x="736597" y="637317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742950" y="6581775"/>
            <a:ext cx="3429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Avanta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457700" y="6581775"/>
            <a:ext cx="56578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45F3D"/>
                </a:solidFill>
                <a:latin typeface="Aptos"/>
                <a:ea typeface="Aptos"/>
                <a:cs typeface="Aptos"/>
                <a:sym typeface="Aptos"/>
              </a:rPr>
              <a:t>Assurance-loop architecture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01300" y="6581775"/>
            <a:ext cx="6858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A45F3D"/>
                </a:solidFill>
                <a:latin typeface="Aptos"/>
                <a:ea typeface="Aptos"/>
                <a:cs typeface="Aptos"/>
                <a:sym typeface="Aptos"/>
              </a:rPr>
              <a:t>Context + verification + approval.</a:t>
            </a:r>
          </a:p>
        </p:txBody>
      </p:sp>
      <p:sp>
        <p:nvSpPr>
          <p:cNvPr name="AutoShape 26" id="26"/>
          <p:cNvSpPr/>
          <p:nvPr/>
        </p:nvSpPr>
        <p:spPr>
          <a:xfrm rot="2580">
            <a:off x="736597" y="734472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742950" y="8187690"/>
            <a:ext cx="166878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>
                <a:solidFill>
                  <a:srgbClr val="A45F3D"/>
                </a:solidFill>
                <a:latin typeface="Georgia"/>
                <a:ea typeface="Georgia"/>
                <a:cs typeface="Georgia"/>
                <a:sym typeface="Georgia"/>
              </a:rPr>
              <a:t>Avanta brings the outputs into one evidence-linked review workflow.</a:t>
            </a:r>
          </a:p>
        </p:txBody>
      </p:sp>
      <p:pic>
        <p:nvPicPr>
          <p:cNvPr name="Picture 28" id="28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2907" t="0" r="2907" b="5814"/>
          <a:stretch>
            <a:fillRect/>
          </a:stretch>
        </p:blipFill>
        <p:spPr>
          <a:xfrm flipH="false" flipV="false" rot="0">
            <a:off x="15418745" y="196301"/>
            <a:ext cx="2279363" cy="6838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04 / OUR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Connect the change, the checks and the human decision.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AVANTA / PRIVANTRIX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04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6517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ASSURANCE-LOOP ARCHITECTURE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35806" y="3604736"/>
            <a:ext cx="620078" cy="620078"/>
            <a:chOff x="0" y="0"/>
            <a:chExt cx="826770" cy="8267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6770" cy="826770"/>
            </a:xfrm>
            <a:custGeom>
              <a:avLst/>
              <a:gdLst/>
              <a:ahLst/>
              <a:cxnLst/>
              <a:rect r="r" b="b" t="t" l="l"/>
              <a:pathLst>
                <a:path h="826770" w="826770">
                  <a:moveTo>
                    <a:pt x="0" y="413385"/>
                  </a:moveTo>
                  <a:cubicBezTo>
                    <a:pt x="0" y="185039"/>
                    <a:pt x="185039" y="0"/>
                    <a:pt x="413385" y="0"/>
                  </a:cubicBezTo>
                  <a:cubicBezTo>
                    <a:pt x="641731" y="0"/>
                    <a:pt x="826770" y="185039"/>
                    <a:pt x="826770" y="413385"/>
                  </a:cubicBezTo>
                  <a:cubicBezTo>
                    <a:pt x="826770" y="641731"/>
                    <a:pt x="641731" y="826770"/>
                    <a:pt x="413385" y="826770"/>
                  </a:cubicBezTo>
                  <a:cubicBezTo>
                    <a:pt x="185039" y="826770"/>
                    <a:pt x="0" y="641731"/>
                    <a:pt x="0" y="4133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A45F3D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42950" y="3629025"/>
            <a:ext cx="605790" cy="571500"/>
            <a:chOff x="0" y="0"/>
            <a:chExt cx="807720" cy="76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7720" cy="762000"/>
            </a:xfrm>
            <a:custGeom>
              <a:avLst/>
              <a:gdLst/>
              <a:ahLst/>
              <a:cxnLst/>
              <a:rect r="r" b="b" t="t" l="l"/>
              <a:pathLst>
                <a:path h="762000" w="807720">
                  <a:moveTo>
                    <a:pt x="0" y="0"/>
                  </a:moveTo>
                  <a:lnTo>
                    <a:pt x="807720" y="0"/>
                  </a:lnTo>
                  <a:lnTo>
                    <a:pt x="80772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041" t="0" r="-71041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80772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A45F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42950" y="4572000"/>
            <a:ext cx="2971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Observe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2950" y="5337810"/>
            <a:ext cx="291465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Change + context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03320" y="4537710"/>
            <a:ext cx="4572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>
                <a:solidFill>
                  <a:srgbClr val="A45F3D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164806" y="3604736"/>
            <a:ext cx="620078" cy="620078"/>
            <a:chOff x="0" y="0"/>
            <a:chExt cx="826770" cy="8267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6770" cy="826770"/>
            </a:xfrm>
            <a:custGeom>
              <a:avLst/>
              <a:gdLst/>
              <a:ahLst/>
              <a:cxnLst/>
              <a:rect r="r" b="b" t="t" l="l"/>
              <a:pathLst>
                <a:path h="826770" w="826770">
                  <a:moveTo>
                    <a:pt x="0" y="413385"/>
                  </a:moveTo>
                  <a:cubicBezTo>
                    <a:pt x="0" y="185039"/>
                    <a:pt x="185039" y="0"/>
                    <a:pt x="413385" y="0"/>
                  </a:cubicBezTo>
                  <a:cubicBezTo>
                    <a:pt x="641731" y="0"/>
                    <a:pt x="826770" y="185039"/>
                    <a:pt x="826770" y="413385"/>
                  </a:cubicBezTo>
                  <a:cubicBezTo>
                    <a:pt x="826770" y="641731"/>
                    <a:pt x="641731" y="826770"/>
                    <a:pt x="413385" y="826770"/>
                  </a:cubicBezTo>
                  <a:cubicBezTo>
                    <a:pt x="185039" y="826770"/>
                    <a:pt x="0" y="641731"/>
                    <a:pt x="0" y="4133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A45F3D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171950" y="3629025"/>
            <a:ext cx="605790" cy="571500"/>
            <a:chOff x="0" y="0"/>
            <a:chExt cx="807720" cy="762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7720" cy="762000"/>
            </a:xfrm>
            <a:custGeom>
              <a:avLst/>
              <a:gdLst/>
              <a:ahLst/>
              <a:cxnLst/>
              <a:rect r="r" b="b" t="t" l="l"/>
              <a:pathLst>
                <a:path h="762000" w="807720">
                  <a:moveTo>
                    <a:pt x="0" y="0"/>
                  </a:moveTo>
                  <a:lnTo>
                    <a:pt x="807720" y="0"/>
                  </a:lnTo>
                  <a:lnTo>
                    <a:pt x="80772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041" t="0" r="-71041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0772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A45F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171950" y="4572000"/>
            <a:ext cx="2971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Understand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71950" y="5337810"/>
            <a:ext cx="291465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Rudra context packet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32320" y="4537710"/>
            <a:ext cx="4572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>
                <a:solidFill>
                  <a:srgbClr val="A45F3D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593806" y="3604736"/>
            <a:ext cx="620078" cy="620078"/>
            <a:chOff x="0" y="0"/>
            <a:chExt cx="826770" cy="82677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6770" cy="826770"/>
            </a:xfrm>
            <a:custGeom>
              <a:avLst/>
              <a:gdLst/>
              <a:ahLst/>
              <a:cxnLst/>
              <a:rect r="r" b="b" t="t" l="l"/>
              <a:pathLst>
                <a:path h="826770" w="826770">
                  <a:moveTo>
                    <a:pt x="0" y="413385"/>
                  </a:moveTo>
                  <a:cubicBezTo>
                    <a:pt x="0" y="185039"/>
                    <a:pt x="185039" y="0"/>
                    <a:pt x="413385" y="0"/>
                  </a:cubicBezTo>
                  <a:cubicBezTo>
                    <a:pt x="641731" y="0"/>
                    <a:pt x="826770" y="185039"/>
                    <a:pt x="826770" y="413385"/>
                  </a:cubicBezTo>
                  <a:cubicBezTo>
                    <a:pt x="826770" y="641731"/>
                    <a:pt x="641731" y="826770"/>
                    <a:pt x="413385" y="826770"/>
                  </a:cubicBezTo>
                  <a:cubicBezTo>
                    <a:pt x="185039" y="826770"/>
                    <a:pt x="0" y="641731"/>
                    <a:pt x="0" y="4133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A45F3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600950" y="3629025"/>
            <a:ext cx="605790" cy="571500"/>
            <a:chOff x="0" y="0"/>
            <a:chExt cx="807720" cy="762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7720" cy="762000"/>
            </a:xfrm>
            <a:custGeom>
              <a:avLst/>
              <a:gdLst/>
              <a:ahLst/>
              <a:cxnLst/>
              <a:rect r="r" b="b" t="t" l="l"/>
              <a:pathLst>
                <a:path h="762000" w="807720">
                  <a:moveTo>
                    <a:pt x="0" y="0"/>
                  </a:moveTo>
                  <a:lnTo>
                    <a:pt x="807720" y="0"/>
                  </a:lnTo>
                  <a:lnTo>
                    <a:pt x="80772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041" t="0" r="-7104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80772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A45F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7600950" y="4572000"/>
            <a:ext cx="2971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Repair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600950" y="5337810"/>
            <a:ext cx="291465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Candidate patch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561320" y="4537710"/>
            <a:ext cx="4572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>
                <a:solidFill>
                  <a:srgbClr val="A45F3D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022806" y="3604736"/>
            <a:ext cx="620078" cy="620078"/>
            <a:chOff x="0" y="0"/>
            <a:chExt cx="826770" cy="82677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6770" cy="826770"/>
            </a:xfrm>
            <a:custGeom>
              <a:avLst/>
              <a:gdLst/>
              <a:ahLst/>
              <a:cxnLst/>
              <a:rect r="r" b="b" t="t" l="l"/>
              <a:pathLst>
                <a:path h="826770" w="826770">
                  <a:moveTo>
                    <a:pt x="0" y="413385"/>
                  </a:moveTo>
                  <a:cubicBezTo>
                    <a:pt x="0" y="185039"/>
                    <a:pt x="185039" y="0"/>
                    <a:pt x="413385" y="0"/>
                  </a:cubicBezTo>
                  <a:cubicBezTo>
                    <a:pt x="641731" y="0"/>
                    <a:pt x="826770" y="185039"/>
                    <a:pt x="826770" y="413385"/>
                  </a:cubicBezTo>
                  <a:cubicBezTo>
                    <a:pt x="826770" y="641731"/>
                    <a:pt x="641731" y="826770"/>
                    <a:pt x="413385" y="826770"/>
                  </a:cubicBezTo>
                  <a:cubicBezTo>
                    <a:pt x="185039" y="826770"/>
                    <a:pt x="0" y="641731"/>
                    <a:pt x="0" y="4133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A45F3D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029950" y="3629025"/>
            <a:ext cx="605790" cy="571500"/>
            <a:chOff x="0" y="0"/>
            <a:chExt cx="807720" cy="762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07720" cy="762000"/>
            </a:xfrm>
            <a:custGeom>
              <a:avLst/>
              <a:gdLst/>
              <a:ahLst/>
              <a:cxnLst/>
              <a:rect r="r" b="b" t="t" l="l"/>
              <a:pathLst>
                <a:path h="762000" w="807720">
                  <a:moveTo>
                    <a:pt x="0" y="0"/>
                  </a:moveTo>
                  <a:lnTo>
                    <a:pt x="807720" y="0"/>
                  </a:lnTo>
                  <a:lnTo>
                    <a:pt x="80772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041" t="0" r="-71041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80772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A45F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1029950" y="4572000"/>
            <a:ext cx="2971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Verify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029950" y="5337810"/>
            <a:ext cx="291465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Tests + scanner rerun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990320" y="4537710"/>
            <a:ext cx="4572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>
                <a:solidFill>
                  <a:srgbClr val="A45F3D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4451806" y="3604736"/>
            <a:ext cx="620078" cy="620078"/>
            <a:chOff x="0" y="0"/>
            <a:chExt cx="826770" cy="82677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26770" cy="826770"/>
            </a:xfrm>
            <a:custGeom>
              <a:avLst/>
              <a:gdLst/>
              <a:ahLst/>
              <a:cxnLst/>
              <a:rect r="r" b="b" t="t" l="l"/>
              <a:pathLst>
                <a:path h="826770" w="826770">
                  <a:moveTo>
                    <a:pt x="0" y="413385"/>
                  </a:moveTo>
                  <a:cubicBezTo>
                    <a:pt x="0" y="185039"/>
                    <a:pt x="185039" y="0"/>
                    <a:pt x="413385" y="0"/>
                  </a:cubicBezTo>
                  <a:cubicBezTo>
                    <a:pt x="641731" y="0"/>
                    <a:pt x="826770" y="185039"/>
                    <a:pt x="826770" y="413385"/>
                  </a:cubicBezTo>
                  <a:cubicBezTo>
                    <a:pt x="826770" y="641731"/>
                    <a:pt x="641731" y="826770"/>
                    <a:pt x="413385" y="826770"/>
                  </a:cubicBezTo>
                  <a:cubicBezTo>
                    <a:pt x="185039" y="826770"/>
                    <a:pt x="0" y="641731"/>
                    <a:pt x="0" y="4133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A45F3D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4458950" y="3629025"/>
            <a:ext cx="605790" cy="571500"/>
            <a:chOff x="0" y="0"/>
            <a:chExt cx="807720" cy="762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07720" cy="762000"/>
            </a:xfrm>
            <a:custGeom>
              <a:avLst/>
              <a:gdLst/>
              <a:ahLst/>
              <a:cxnLst/>
              <a:rect r="r" b="b" t="t" l="l"/>
              <a:pathLst>
                <a:path h="762000" w="807720">
                  <a:moveTo>
                    <a:pt x="0" y="0"/>
                  </a:moveTo>
                  <a:lnTo>
                    <a:pt x="807720" y="0"/>
                  </a:lnTo>
                  <a:lnTo>
                    <a:pt x="80772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041" t="0" r="-71041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80772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A45F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4458950" y="4572000"/>
            <a:ext cx="29718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Approve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458950" y="5337810"/>
            <a:ext cx="291465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Human decision</a:t>
            </a:r>
          </a:p>
        </p:txBody>
      </p:sp>
      <p:sp>
        <p:nvSpPr>
          <p:cNvPr name="AutoShape 47" id="47"/>
          <p:cNvSpPr/>
          <p:nvPr/>
        </p:nvSpPr>
        <p:spPr>
          <a:xfrm rot="2580">
            <a:off x="736597" y="713898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8" id="48"/>
          <p:cNvSpPr txBox="true"/>
          <p:nvPr/>
        </p:nvSpPr>
        <p:spPr>
          <a:xfrm rot="0">
            <a:off x="742950" y="7671435"/>
            <a:ext cx="1680210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A45F3D"/>
                </a:solidFill>
                <a:latin typeface="Georgia"/>
                <a:ea typeface="Georgia"/>
                <a:cs typeface="Georgia"/>
                <a:sym typeface="Georgia"/>
              </a:rPr>
              <a:t>Verified changes inform the next review through private engineering memory.</a:t>
            </a:r>
          </a:p>
        </p:txBody>
      </p:sp>
      <p:pic>
        <p:nvPicPr>
          <p:cNvPr name="Picture 49" id="49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2907" t="0" r="2907" b="5814"/>
          <a:stretch>
            <a:fillRect/>
          </a:stretch>
        </p:blipFill>
        <p:spPr>
          <a:xfrm flipH="false" flipV="false" rot="0">
            <a:off x="15418745" y="196301"/>
            <a:ext cx="2279363" cy="6838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49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05 / TECHNOLOGY &amp; INNOVATION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Reasoning proposes a repair. Verification sets the boundary.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AVANTA / PRIVANTRIX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05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880360"/>
            <a:ext cx="61722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REASONING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2950" y="3648075"/>
            <a:ext cx="6172200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0"/>
              </a:lnSpc>
            </a:pPr>
            <a:r>
              <a:rPr lang="en-US" sz="387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Context</a:t>
            </a:r>
          </a:p>
          <a:p>
            <a:pPr algn="l">
              <a:lnSpc>
                <a:spcPts val="4650"/>
              </a:lnSpc>
            </a:pPr>
            <a:r>
              <a:rPr lang="en-US" sz="387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↓</a:t>
            </a:r>
          </a:p>
          <a:p>
            <a:pPr algn="l">
              <a:lnSpc>
                <a:spcPts val="4650"/>
              </a:lnSpc>
            </a:pPr>
            <a:r>
              <a:rPr lang="en-US" sz="387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Candidate repair</a:t>
            </a:r>
          </a:p>
        </p:txBody>
      </p:sp>
      <p:sp>
        <p:nvSpPr>
          <p:cNvPr name="AutoShape 9" id="9"/>
          <p:cNvSpPr/>
          <p:nvPr/>
        </p:nvSpPr>
        <p:spPr>
          <a:xfrm rot="7020">
            <a:off x="736597" y="6567488"/>
            <a:ext cx="6242066" cy="0"/>
          </a:xfrm>
          <a:prstGeom prst="line">
            <a:avLst/>
          </a:prstGeom>
          <a:ln cap="rnd" w="9525">
            <a:solidFill>
              <a:srgbClr val="A45F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742950" y="6949440"/>
            <a:ext cx="622935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A45F3D"/>
                </a:solidFill>
                <a:latin typeface="Aptos"/>
                <a:ea typeface="Aptos"/>
                <a:cs typeface="Aptos"/>
                <a:sym typeface="Aptos"/>
              </a:rPr>
              <a:t>A model proposes.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A45F3D"/>
                </a:solidFill>
                <a:latin typeface="Aptos"/>
                <a:ea typeface="Aptos"/>
                <a:cs typeface="Aptos"/>
                <a:sym typeface="Aptos"/>
              </a:rPr>
              <a:t>Checks guide trust.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01000" y="2766060"/>
            <a:ext cx="95440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01 / REPOSITORY CONTEXT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01000" y="3211830"/>
            <a:ext cx="954405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Connect the change to program structure and findings.</a:t>
            </a:r>
          </a:p>
        </p:txBody>
      </p:sp>
      <p:sp>
        <p:nvSpPr>
          <p:cNvPr name="AutoShape 13" id="13"/>
          <p:cNvSpPr/>
          <p:nvPr/>
        </p:nvSpPr>
        <p:spPr>
          <a:xfrm rot="4560">
            <a:off x="7994647" y="3927158"/>
            <a:ext cx="955675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8001000" y="4137660"/>
            <a:ext cx="95440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02 / RUDRA / REASONING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01000" y="4583430"/>
            <a:ext cx="954405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Use context to propose a focused candidate repair.</a:t>
            </a:r>
          </a:p>
        </p:txBody>
      </p:sp>
      <p:sp>
        <p:nvSpPr>
          <p:cNvPr name="AutoShape 16" id="16"/>
          <p:cNvSpPr/>
          <p:nvPr/>
        </p:nvSpPr>
        <p:spPr>
          <a:xfrm rot="4560">
            <a:off x="7994647" y="5298758"/>
            <a:ext cx="955675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8001000" y="5509260"/>
            <a:ext cx="95440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03 / DETERMINISTIC GATES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01000" y="5955030"/>
            <a:ext cx="954405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Compiler, tests and security checks assess the change.</a:t>
            </a:r>
          </a:p>
        </p:txBody>
      </p:sp>
      <p:sp>
        <p:nvSpPr>
          <p:cNvPr name="AutoShape 19" id="19"/>
          <p:cNvSpPr/>
          <p:nvPr/>
        </p:nvSpPr>
        <p:spPr>
          <a:xfrm rot="4560">
            <a:off x="7994647" y="6670357"/>
            <a:ext cx="955675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8001000" y="6880860"/>
            <a:ext cx="95440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04 / REVIEW + MEMORY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01000" y="7326630"/>
            <a:ext cx="954405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An evidence packet supports approval and future context.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2950" y="8814435"/>
            <a:ext cx="168021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Architecture principle: a model proposes; checkable results support the trust decision.</a:t>
            </a:r>
          </a:p>
        </p:txBody>
      </p:sp>
      <p:pic>
        <p:nvPicPr>
          <p:cNvPr name="Picture 23" id="2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2907" t="0" r="2907" b="5814"/>
          <a:stretch>
            <a:fillRect/>
          </a:stretch>
        </p:blipFill>
        <p:spPr>
          <a:xfrm flipH="false" flipV="false" rot="0">
            <a:off x="15418745" y="196301"/>
            <a:ext cx="2279363" cy="6838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06 / PROTOTYPE / MVP / DEMONSTRATION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One controlled change defines the MVP demonstration.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AVANTA / PRIVANTRIX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06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43459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MVP DEMONSTRATION DESIGN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35806" y="3501866"/>
            <a:ext cx="677228" cy="677228"/>
            <a:chOff x="0" y="0"/>
            <a:chExt cx="902970" cy="9029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2970" cy="902970"/>
            </a:xfrm>
            <a:custGeom>
              <a:avLst/>
              <a:gdLst/>
              <a:ahLst/>
              <a:cxnLst/>
              <a:rect r="r" b="b" t="t" l="l"/>
              <a:pathLst>
                <a:path h="902970" w="902970">
                  <a:moveTo>
                    <a:pt x="0" y="451485"/>
                  </a:moveTo>
                  <a:cubicBezTo>
                    <a:pt x="0" y="202184"/>
                    <a:pt x="202184" y="0"/>
                    <a:pt x="451485" y="0"/>
                  </a:cubicBezTo>
                  <a:cubicBezTo>
                    <a:pt x="700786" y="0"/>
                    <a:pt x="902970" y="202184"/>
                    <a:pt x="902970" y="451485"/>
                  </a:cubicBezTo>
                  <a:cubicBezTo>
                    <a:pt x="902970" y="700786"/>
                    <a:pt x="700786" y="902970"/>
                    <a:pt x="451485" y="902970"/>
                  </a:cubicBezTo>
                  <a:cubicBezTo>
                    <a:pt x="202184" y="902970"/>
                    <a:pt x="0" y="700786"/>
                    <a:pt x="0" y="4514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A45F3D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42950" y="3526155"/>
            <a:ext cx="662940" cy="628650"/>
            <a:chOff x="0" y="0"/>
            <a:chExt cx="883920" cy="838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83920" cy="838198"/>
            </a:xfrm>
            <a:custGeom>
              <a:avLst/>
              <a:gdLst/>
              <a:ahLst/>
              <a:cxnLst/>
              <a:rect r="r" b="b" t="t" l="l"/>
              <a:pathLst>
                <a:path h="838198" w="883920">
                  <a:moveTo>
                    <a:pt x="0" y="0"/>
                  </a:moveTo>
                  <a:lnTo>
                    <a:pt x="883920" y="0"/>
                  </a:lnTo>
                  <a:lnTo>
                    <a:pt x="883920" y="838198"/>
                  </a:lnTo>
                  <a:lnTo>
                    <a:pt x="0" y="8381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667" t="0" r="-71667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883920" cy="83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A45F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42950" y="4560570"/>
            <a:ext cx="5143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CONTROLLED INPUT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2950" y="5191125"/>
            <a:ext cx="508635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Public or synthetic code with a known defect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65106" y="3501866"/>
            <a:ext cx="677228" cy="677228"/>
            <a:chOff x="0" y="0"/>
            <a:chExt cx="902970" cy="9029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2970" cy="902970"/>
            </a:xfrm>
            <a:custGeom>
              <a:avLst/>
              <a:gdLst/>
              <a:ahLst/>
              <a:cxnLst/>
              <a:rect r="r" b="b" t="t" l="l"/>
              <a:pathLst>
                <a:path h="902970" w="902970">
                  <a:moveTo>
                    <a:pt x="0" y="451485"/>
                  </a:moveTo>
                  <a:cubicBezTo>
                    <a:pt x="0" y="202184"/>
                    <a:pt x="202184" y="0"/>
                    <a:pt x="451485" y="0"/>
                  </a:cubicBezTo>
                  <a:cubicBezTo>
                    <a:pt x="700786" y="0"/>
                    <a:pt x="902970" y="202184"/>
                    <a:pt x="902970" y="451485"/>
                  </a:cubicBezTo>
                  <a:cubicBezTo>
                    <a:pt x="902970" y="700786"/>
                    <a:pt x="700786" y="902970"/>
                    <a:pt x="451485" y="902970"/>
                  </a:cubicBezTo>
                  <a:cubicBezTo>
                    <a:pt x="202184" y="902970"/>
                    <a:pt x="0" y="700786"/>
                    <a:pt x="0" y="4514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A45F3D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572250" y="3526155"/>
            <a:ext cx="662940" cy="628650"/>
            <a:chOff x="0" y="0"/>
            <a:chExt cx="883920" cy="838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83920" cy="838198"/>
            </a:xfrm>
            <a:custGeom>
              <a:avLst/>
              <a:gdLst/>
              <a:ahLst/>
              <a:cxnLst/>
              <a:rect r="r" b="b" t="t" l="l"/>
              <a:pathLst>
                <a:path h="838198" w="883920">
                  <a:moveTo>
                    <a:pt x="0" y="0"/>
                  </a:moveTo>
                  <a:lnTo>
                    <a:pt x="883920" y="0"/>
                  </a:lnTo>
                  <a:lnTo>
                    <a:pt x="883920" y="838198"/>
                  </a:lnTo>
                  <a:lnTo>
                    <a:pt x="0" y="8381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667" t="0" r="-71667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883920" cy="83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A45F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572250" y="4560570"/>
            <a:ext cx="5143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CANDIDATE REPAIR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72250" y="5191125"/>
            <a:ext cx="508635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Focused patch and change rationale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394406" y="3501866"/>
            <a:ext cx="677228" cy="677228"/>
            <a:chOff x="0" y="0"/>
            <a:chExt cx="902970" cy="902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02970" cy="902970"/>
            </a:xfrm>
            <a:custGeom>
              <a:avLst/>
              <a:gdLst/>
              <a:ahLst/>
              <a:cxnLst/>
              <a:rect r="r" b="b" t="t" l="l"/>
              <a:pathLst>
                <a:path h="902970" w="902970">
                  <a:moveTo>
                    <a:pt x="0" y="451485"/>
                  </a:moveTo>
                  <a:cubicBezTo>
                    <a:pt x="0" y="202184"/>
                    <a:pt x="202184" y="0"/>
                    <a:pt x="451485" y="0"/>
                  </a:cubicBezTo>
                  <a:cubicBezTo>
                    <a:pt x="700786" y="0"/>
                    <a:pt x="902970" y="202184"/>
                    <a:pt x="902970" y="451485"/>
                  </a:cubicBezTo>
                  <a:cubicBezTo>
                    <a:pt x="902970" y="700786"/>
                    <a:pt x="700786" y="902970"/>
                    <a:pt x="451485" y="902970"/>
                  </a:cubicBezTo>
                  <a:cubicBezTo>
                    <a:pt x="202184" y="902970"/>
                    <a:pt x="0" y="700786"/>
                    <a:pt x="0" y="45148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A45F3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401550" y="3526155"/>
            <a:ext cx="662940" cy="628650"/>
            <a:chOff x="0" y="0"/>
            <a:chExt cx="883920" cy="838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83920" cy="838198"/>
            </a:xfrm>
            <a:custGeom>
              <a:avLst/>
              <a:gdLst/>
              <a:ahLst/>
              <a:cxnLst/>
              <a:rect r="r" b="b" t="t" l="l"/>
              <a:pathLst>
                <a:path h="838198" w="883920">
                  <a:moveTo>
                    <a:pt x="0" y="0"/>
                  </a:moveTo>
                  <a:lnTo>
                    <a:pt x="883920" y="0"/>
                  </a:lnTo>
                  <a:lnTo>
                    <a:pt x="883920" y="838198"/>
                  </a:lnTo>
                  <a:lnTo>
                    <a:pt x="0" y="8381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667" t="0" r="-71667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883920" cy="83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A45F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401550" y="4560570"/>
            <a:ext cx="5143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REVIEW PACKET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01550" y="5191125"/>
            <a:ext cx="508635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Diff, gate results and approval decision</a:t>
            </a:r>
          </a:p>
        </p:txBody>
      </p:sp>
      <p:sp>
        <p:nvSpPr>
          <p:cNvPr name="AutoShape 29" id="29"/>
          <p:cNvSpPr/>
          <p:nvPr/>
        </p:nvSpPr>
        <p:spPr>
          <a:xfrm rot="2580">
            <a:off x="736597" y="719613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742950" y="750951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NEXT ENGINEERING MILESTONE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42950" y="8035290"/>
            <a:ext cx="168021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Run the assurance loop end to end on one controlled case.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42950" y="9029700"/>
            <a:ext cx="168021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A controlled defect connects input, repair, verification and reviewer approval.</a:t>
            </a:r>
          </a:p>
        </p:txBody>
      </p:sp>
      <p:pic>
        <p:nvPicPr>
          <p:cNvPr name="Picture 33" id="3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2907" t="0" r="2907" b="5814"/>
          <a:stretch>
            <a:fillRect/>
          </a:stretch>
        </p:blipFill>
        <p:spPr>
          <a:xfrm flipH="false" flipV="false" rot="0">
            <a:off x="15418745" y="196301"/>
            <a:ext cx="2279363" cy="6838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33"/>
                </p:tgtEl>
              </p:cMediaNode>
            </p:video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07 / TARGET USERS &amp; USE CASES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Build around the people responsible for a release.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AVANTA / PRIVANTRIX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07 / 12</a:t>
            </a:r>
          </a:p>
        </p:txBody>
      </p:sp>
      <p:sp>
        <p:nvSpPr>
          <p:cNvPr name="AutoShape 7" id="7"/>
          <p:cNvSpPr/>
          <p:nvPr/>
        </p:nvSpPr>
        <p:spPr>
          <a:xfrm rot="8460">
            <a:off x="736597" y="3058478"/>
            <a:ext cx="5156216" cy="0"/>
          </a:xfrm>
          <a:prstGeom prst="line">
            <a:avLst/>
          </a:prstGeom>
          <a:ln cap="rnd" w="9525">
            <a:solidFill>
              <a:srgbClr val="A45F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742950" y="3440430"/>
            <a:ext cx="5257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DEVELOPERS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2950" y="4208145"/>
            <a:ext cx="520065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Review AI-assisted changes with the relevant checks in view.</a:t>
            </a:r>
          </a:p>
        </p:txBody>
      </p:sp>
      <p:sp>
        <p:nvSpPr>
          <p:cNvPr name="AutoShape 10" id="10"/>
          <p:cNvSpPr/>
          <p:nvPr/>
        </p:nvSpPr>
        <p:spPr>
          <a:xfrm rot="8460">
            <a:off x="6508747" y="3058478"/>
            <a:ext cx="5156216" cy="0"/>
          </a:xfrm>
          <a:prstGeom prst="line">
            <a:avLst/>
          </a:prstGeom>
          <a:ln cap="rnd" w="9525">
            <a:solidFill>
              <a:srgbClr val="A45F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6515100" y="3440430"/>
            <a:ext cx="5257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ENGINEERING LEADS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15100" y="4208145"/>
            <a:ext cx="520065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Connect release decisions to a clear approval record.</a:t>
            </a:r>
          </a:p>
        </p:txBody>
      </p:sp>
      <p:sp>
        <p:nvSpPr>
          <p:cNvPr name="AutoShape 13" id="13"/>
          <p:cNvSpPr/>
          <p:nvPr/>
        </p:nvSpPr>
        <p:spPr>
          <a:xfrm rot="8460">
            <a:off x="12280897" y="3058478"/>
            <a:ext cx="5156216" cy="0"/>
          </a:xfrm>
          <a:prstGeom prst="line">
            <a:avLst/>
          </a:prstGeom>
          <a:ln cap="rnd" w="9525">
            <a:solidFill>
              <a:srgbClr val="A45F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2287250" y="3440430"/>
            <a:ext cx="5257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SECURITY REVIEWERS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87250" y="4208145"/>
            <a:ext cx="520065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Tie findings, context and repair into one triage workflow.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2950" y="69951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ONE USE-CASE JOURNEY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2950" y="780669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CODE CHANGE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86275" y="777240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A45F3D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43475" y="780669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CONTEXT + CHECKS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86800" y="777240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A45F3D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0" y="780669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REVIEW PACKET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87325" y="777240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A45F3D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44525" y="780669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APPROVAL DECISION</a:t>
            </a:r>
          </a:p>
        </p:txBody>
      </p:sp>
      <p:pic>
        <p:nvPicPr>
          <p:cNvPr name="Picture 24" id="24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2907" t="0" r="2907" b="5814"/>
          <a:stretch>
            <a:fillRect/>
          </a:stretch>
        </p:blipFill>
        <p:spPr>
          <a:xfrm flipH="false" flipV="false" rot="0">
            <a:off x="15418745" y="196301"/>
            <a:ext cx="2279363" cy="6838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7680">
            <a:off x="11766547" y="3321367"/>
            <a:ext cx="567056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7680">
            <a:off x="11766547" y="4110038"/>
            <a:ext cx="567056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7680">
            <a:off x="11766547" y="4898708"/>
            <a:ext cx="567056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7680">
            <a:off x="11766547" y="5687378"/>
            <a:ext cx="567056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735806" y="8188166"/>
            <a:ext cx="722948" cy="722948"/>
            <a:chOff x="0" y="0"/>
            <a:chExt cx="963930" cy="9639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3930" cy="963930"/>
            </a:xfrm>
            <a:custGeom>
              <a:avLst/>
              <a:gdLst/>
              <a:ahLst/>
              <a:cxnLst/>
              <a:rect r="r" b="b" t="t" l="l"/>
              <a:pathLst>
                <a:path h="963930" w="963930">
                  <a:moveTo>
                    <a:pt x="0" y="481965"/>
                  </a:moveTo>
                  <a:cubicBezTo>
                    <a:pt x="0" y="215773"/>
                    <a:pt x="215773" y="0"/>
                    <a:pt x="481965" y="0"/>
                  </a:cubicBezTo>
                  <a:cubicBezTo>
                    <a:pt x="748157" y="0"/>
                    <a:pt x="963930" y="215773"/>
                    <a:pt x="963930" y="481965"/>
                  </a:cubicBezTo>
                  <a:cubicBezTo>
                    <a:pt x="963930" y="748157"/>
                    <a:pt x="748157" y="963930"/>
                    <a:pt x="481965" y="963930"/>
                  </a:cubicBezTo>
                  <a:cubicBezTo>
                    <a:pt x="215773" y="963930"/>
                    <a:pt x="0" y="748157"/>
                    <a:pt x="0" y="48196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A45F3D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42950" y="8212455"/>
            <a:ext cx="708660" cy="674370"/>
            <a:chOff x="0" y="0"/>
            <a:chExt cx="944880" cy="899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4880" cy="899160"/>
            </a:xfrm>
            <a:custGeom>
              <a:avLst/>
              <a:gdLst/>
              <a:ahLst/>
              <a:cxnLst/>
              <a:rect r="r" b="b" t="t" l="l"/>
              <a:pathLst>
                <a:path h="899160" w="944880">
                  <a:moveTo>
                    <a:pt x="0" y="0"/>
                  </a:moveTo>
                  <a:lnTo>
                    <a:pt x="944880" y="0"/>
                  </a:lnTo>
                  <a:lnTo>
                    <a:pt x="944880" y="899160"/>
                  </a:lnTo>
                  <a:lnTo>
                    <a:pt x="0" y="899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095" t="0" r="-72095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44880" cy="899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A45F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08306" y="8188166"/>
            <a:ext cx="722948" cy="722948"/>
            <a:chOff x="0" y="0"/>
            <a:chExt cx="963930" cy="9639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3930" cy="963930"/>
            </a:xfrm>
            <a:custGeom>
              <a:avLst/>
              <a:gdLst/>
              <a:ahLst/>
              <a:cxnLst/>
              <a:rect r="r" b="b" t="t" l="l"/>
              <a:pathLst>
                <a:path h="963930" w="963930">
                  <a:moveTo>
                    <a:pt x="0" y="481965"/>
                  </a:moveTo>
                  <a:cubicBezTo>
                    <a:pt x="0" y="215773"/>
                    <a:pt x="215773" y="0"/>
                    <a:pt x="481965" y="0"/>
                  </a:cubicBezTo>
                  <a:cubicBezTo>
                    <a:pt x="748157" y="0"/>
                    <a:pt x="963930" y="215773"/>
                    <a:pt x="963930" y="481965"/>
                  </a:cubicBezTo>
                  <a:cubicBezTo>
                    <a:pt x="963930" y="748157"/>
                    <a:pt x="748157" y="963930"/>
                    <a:pt x="481965" y="963930"/>
                  </a:cubicBezTo>
                  <a:cubicBezTo>
                    <a:pt x="215773" y="963930"/>
                    <a:pt x="0" y="748157"/>
                    <a:pt x="0" y="48196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A45F3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315450" y="8212455"/>
            <a:ext cx="708660" cy="674370"/>
            <a:chOff x="0" y="0"/>
            <a:chExt cx="944880" cy="899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4880" cy="899160"/>
            </a:xfrm>
            <a:custGeom>
              <a:avLst/>
              <a:gdLst/>
              <a:ahLst/>
              <a:cxnLst/>
              <a:rect r="r" b="b" t="t" l="l"/>
              <a:pathLst>
                <a:path h="899160" w="944880">
                  <a:moveTo>
                    <a:pt x="0" y="0"/>
                  </a:moveTo>
                  <a:lnTo>
                    <a:pt x="944880" y="0"/>
                  </a:lnTo>
                  <a:lnTo>
                    <a:pt x="944880" y="899160"/>
                  </a:lnTo>
                  <a:lnTo>
                    <a:pt x="0" y="899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095" t="0" r="-72095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944880" cy="899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A45F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16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66513" y="8050318"/>
            <a:ext cx="1124373" cy="1124373"/>
          </a:xfrm>
          <a:custGeom>
            <a:avLst/>
            <a:gdLst/>
            <a:ahLst/>
            <a:cxnLst/>
            <a:rect r="r" b="b" t="t" l="l"/>
            <a:pathLst>
              <a:path h="1124373" w="1124373">
                <a:moveTo>
                  <a:pt x="0" y="0"/>
                </a:moveTo>
                <a:lnTo>
                  <a:pt x="1124374" y="0"/>
                </a:lnTo>
                <a:lnTo>
                  <a:pt x="1124374" y="1124374"/>
                </a:lnTo>
                <a:lnTo>
                  <a:pt x="0" y="1124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144000" y="8042915"/>
            <a:ext cx="1018542" cy="1013450"/>
          </a:xfrm>
          <a:custGeom>
            <a:avLst/>
            <a:gdLst/>
            <a:ahLst/>
            <a:cxnLst/>
            <a:rect r="r" b="b" t="t" l="l"/>
            <a:pathLst>
              <a:path h="1013450" w="1018542">
                <a:moveTo>
                  <a:pt x="0" y="0"/>
                </a:moveTo>
                <a:lnTo>
                  <a:pt x="1018542" y="0"/>
                </a:lnTo>
                <a:lnTo>
                  <a:pt x="1018542" y="1013450"/>
                </a:lnTo>
                <a:lnTo>
                  <a:pt x="0" y="10134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08 / IMPACT &amp; OUTCOMES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Measure review quality alongside review speed.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AVANTA / PRIVANTRIX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08 / 12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2950" y="2708910"/>
            <a:ext cx="9715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EXPECTED IMPACT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772900" y="2708910"/>
            <a:ext cx="5715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VALIDATION METRICS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2950" y="3383280"/>
            <a:ext cx="1005840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Less evidence assembly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2950" y="3954780"/>
            <a:ext cx="10115550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Connect the inputs used in review.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2950" y="4743450"/>
            <a:ext cx="1005840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Clearer repair decisions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42950" y="5314950"/>
            <a:ext cx="10115550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Tie candidate changes to their checks.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2950" y="6103620"/>
            <a:ext cx="1005840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Stronger accountability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2950" y="6675120"/>
            <a:ext cx="10115550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Keep the human decision connected to its rationale.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72900" y="3533775"/>
            <a:ext cx="565785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Triage time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72900" y="4322445"/>
            <a:ext cx="565785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Repair success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72900" y="5111115"/>
            <a:ext cx="565785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Incorrect approvals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772900" y="5899785"/>
            <a:ext cx="5657850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7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Review effort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25930" y="8206740"/>
            <a:ext cx="6858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SDG 9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25930" y="8641080"/>
            <a:ext cx="685800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Industry, Innovation &amp; Infrastructure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98430" y="8206740"/>
            <a:ext cx="6858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SDG 16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298430" y="8641080"/>
            <a:ext cx="685800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Peace, Justice &amp; Strong Institutions</a:t>
            </a:r>
          </a:p>
        </p:txBody>
      </p:sp>
      <p:pic>
        <p:nvPicPr>
          <p:cNvPr name="Picture 39" id="39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rcRect l="2907" t="0" r="2907" b="5814"/>
          <a:stretch>
            <a:fillRect/>
          </a:stretch>
        </p:blipFill>
        <p:spPr>
          <a:xfrm flipH="false" flipV="false" rot="0">
            <a:off x="15418745" y="196301"/>
            <a:ext cx="2279363" cy="6838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39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09 / BUSINESS MODEL &amp; IMPLEMENTATION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Start with one assurance loop and grow from there.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AVANTA / PRIVANTRIX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09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69748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IMPLEMENTATION PATH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35806" y="3456146"/>
            <a:ext cx="642938" cy="642938"/>
            <a:chOff x="0" y="0"/>
            <a:chExt cx="857250" cy="857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A45F3D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42950" y="3480435"/>
            <a:ext cx="628650" cy="594360"/>
            <a:chOff x="0" y="0"/>
            <a:chExt cx="838200" cy="792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8200" cy="792480"/>
            </a:xfrm>
            <a:custGeom>
              <a:avLst/>
              <a:gdLst/>
              <a:ahLst/>
              <a:cxnLst/>
              <a:rect r="r" b="b" t="t" l="l"/>
              <a:pathLst>
                <a:path h="79248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838200" cy="792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A45F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19020">
            <a:off x="1593828" y="3778567"/>
            <a:ext cx="2298735" cy="0"/>
          </a:xfrm>
          <a:prstGeom prst="line">
            <a:avLst/>
          </a:prstGeom>
          <a:ln cap="rnd" w="9525">
            <a:solidFill>
              <a:srgbClr val="A45F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742950" y="4572000"/>
            <a:ext cx="31089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Local MVP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2950" y="5623560"/>
            <a:ext cx="310896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One codebase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164806" y="3456146"/>
            <a:ext cx="642938" cy="642938"/>
            <a:chOff x="0" y="0"/>
            <a:chExt cx="857250" cy="857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A45F3D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171950" y="3480435"/>
            <a:ext cx="628650" cy="594360"/>
            <a:chOff x="0" y="0"/>
            <a:chExt cx="838200" cy="792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38200" cy="792480"/>
            </a:xfrm>
            <a:custGeom>
              <a:avLst/>
              <a:gdLst/>
              <a:ahLst/>
              <a:cxnLst/>
              <a:rect r="r" b="b" t="t" l="l"/>
              <a:pathLst>
                <a:path h="79248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38200" cy="792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A45F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19020">
            <a:off x="5022828" y="3778567"/>
            <a:ext cx="2298735" cy="0"/>
          </a:xfrm>
          <a:prstGeom prst="line">
            <a:avLst/>
          </a:prstGeom>
          <a:ln cap="rnd" w="9525">
            <a:solidFill>
              <a:srgbClr val="A45F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4171950" y="4572000"/>
            <a:ext cx="31089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Verification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71950" y="5623560"/>
            <a:ext cx="310896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Tests + scanners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593806" y="3456146"/>
            <a:ext cx="642938" cy="642938"/>
            <a:chOff x="0" y="0"/>
            <a:chExt cx="857250" cy="8572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A45F3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600950" y="3480435"/>
            <a:ext cx="628650" cy="594360"/>
            <a:chOff x="0" y="0"/>
            <a:chExt cx="838200" cy="792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38200" cy="792480"/>
            </a:xfrm>
            <a:custGeom>
              <a:avLst/>
              <a:gdLst/>
              <a:ahLst/>
              <a:cxnLst/>
              <a:rect r="r" b="b" t="t" l="l"/>
              <a:pathLst>
                <a:path h="79248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838200" cy="792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A45F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19020">
            <a:off x="8451828" y="3778567"/>
            <a:ext cx="2298735" cy="0"/>
          </a:xfrm>
          <a:prstGeom prst="line">
            <a:avLst/>
          </a:prstGeom>
          <a:ln cap="rnd" w="9525">
            <a:solidFill>
              <a:srgbClr val="A45F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7600950" y="4572000"/>
            <a:ext cx="31089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Reviewer workflow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00950" y="5623560"/>
            <a:ext cx="310896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Approval packet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022806" y="3456146"/>
            <a:ext cx="642938" cy="642938"/>
            <a:chOff x="0" y="0"/>
            <a:chExt cx="857250" cy="8572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A45F3D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029950" y="3480435"/>
            <a:ext cx="628650" cy="594360"/>
            <a:chOff x="0" y="0"/>
            <a:chExt cx="838200" cy="7924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38200" cy="792480"/>
            </a:xfrm>
            <a:custGeom>
              <a:avLst/>
              <a:gdLst/>
              <a:ahLst/>
              <a:cxnLst/>
              <a:rect r="r" b="b" t="t" l="l"/>
              <a:pathLst>
                <a:path h="79248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838200" cy="792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A45F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rot="19020">
            <a:off x="11880828" y="3778567"/>
            <a:ext cx="2298735" cy="0"/>
          </a:xfrm>
          <a:prstGeom prst="line">
            <a:avLst/>
          </a:prstGeom>
          <a:ln cap="rnd" w="9525">
            <a:solidFill>
              <a:srgbClr val="A45F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11029950" y="4572000"/>
            <a:ext cx="31089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Controlled pilot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029950" y="5623560"/>
            <a:ext cx="310896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Team feedback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4451806" y="3456146"/>
            <a:ext cx="642938" cy="642938"/>
            <a:chOff x="0" y="0"/>
            <a:chExt cx="857250" cy="8572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428625"/>
                  </a:moveTo>
                  <a:cubicBezTo>
                    <a:pt x="0" y="191897"/>
                    <a:pt x="191897" y="0"/>
                    <a:pt x="428625" y="0"/>
                  </a:cubicBezTo>
                  <a:cubicBezTo>
                    <a:pt x="665353" y="0"/>
                    <a:pt x="857250" y="191897"/>
                    <a:pt x="857250" y="428625"/>
                  </a:cubicBezTo>
                  <a:cubicBezTo>
                    <a:pt x="857250" y="665353"/>
                    <a:pt x="665353" y="857250"/>
                    <a:pt x="428625" y="857250"/>
                  </a:cubicBezTo>
                  <a:cubicBezTo>
                    <a:pt x="191897" y="857250"/>
                    <a:pt x="0" y="665353"/>
                    <a:pt x="0" y="428625"/>
                  </a:cubicBezTo>
                  <a:close/>
                </a:path>
              </a:pathLst>
            </a:custGeom>
            <a:solidFill>
              <a:srgbClr val="F7F4ED"/>
            </a:solidFill>
            <a:ln w="14288" cap="sq">
              <a:solidFill>
                <a:srgbClr val="A45F3D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4458950" y="3480435"/>
            <a:ext cx="628650" cy="594360"/>
            <a:chOff x="0" y="0"/>
            <a:chExt cx="838200" cy="7924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38200" cy="792480"/>
            </a:xfrm>
            <a:custGeom>
              <a:avLst/>
              <a:gdLst/>
              <a:ahLst/>
              <a:cxnLst/>
              <a:rect r="r" b="b" t="t" l="l"/>
              <a:pathLst>
                <a:path h="79248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305" t="0" r="-71305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838200" cy="792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50"/>
                </a:lnSpc>
              </a:pPr>
              <a:r>
                <a:rPr lang="en-US" sz="1625" b="true">
                  <a:solidFill>
                    <a:srgbClr val="A45F3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 rot="19020">
            <a:off x="15309828" y="3778567"/>
            <a:ext cx="2298735" cy="0"/>
          </a:xfrm>
          <a:prstGeom prst="line">
            <a:avLst/>
          </a:prstGeom>
          <a:ln cap="rnd" w="9525">
            <a:solidFill>
              <a:srgbClr val="A45F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14458950" y="4572000"/>
            <a:ext cx="31089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Private runtime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458950" y="5623560"/>
            <a:ext cx="310896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Workspace expansion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42950" y="698373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DEPLOYMENT MODEL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42950" y="765810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REPOSITORY / TEAM MODEL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486275" y="762381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A45F3D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943475" y="765810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PRIVATE RUNTIME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686800" y="762381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A45F3D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144000" y="765810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INTEGRATION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887325" y="762381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A45F3D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344525" y="765810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SUPPORT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42950" y="8536305"/>
            <a:ext cx="168021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A staged service model pairs a bounded pilot with integration and ongoing support.</a:t>
            </a:r>
          </a:p>
        </p:txBody>
      </p:sp>
      <p:pic>
        <p:nvPicPr>
          <p:cNvPr name="Picture 57" id="57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2907" t="0" r="2907" b="5814"/>
          <a:stretch>
            <a:fillRect/>
          </a:stretch>
        </p:blipFill>
        <p:spPr>
          <a:xfrm flipH="false" flipV="false" rot="0">
            <a:off x="15418745" y="196301"/>
            <a:ext cx="2279363" cy="6838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57"/>
                </p:tgtEl>
              </p:cMediaNode>
            </p:video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10 / FEASIBILITY &amp; SCALABILITY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Automation must preserve control when a check fails.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AVANTA / PRIVANTRIX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10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261747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ENGINEERING VALIDATION PRIORITIES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2950" y="3143250"/>
            <a:ext cx="168021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Test coverage  ·  Repair bounds  ·  Context integrity  ·  Rollback  ·  Human control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2950" y="4091940"/>
            <a:ext cx="4343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RISK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86350" y="4091940"/>
            <a:ext cx="5372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WHY IT MATTERS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15600" y="4091940"/>
            <a:ext cx="6972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5B5A55"/>
                </a:solidFill>
                <a:latin typeface="Aptos Bold"/>
                <a:ea typeface="Aptos Bold"/>
                <a:cs typeface="Aptos Bold"/>
                <a:sym typeface="Aptos Bold"/>
              </a:rPr>
              <a:t>ENGINEERING RESPONSE</a:t>
            </a:r>
          </a:p>
        </p:txBody>
      </p:sp>
      <p:sp>
        <p:nvSpPr>
          <p:cNvPr name="AutoShape 12" id="12"/>
          <p:cNvSpPr/>
          <p:nvPr/>
        </p:nvSpPr>
        <p:spPr>
          <a:xfrm rot="2580">
            <a:off x="736597" y="456723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742950" y="4823460"/>
            <a:ext cx="40576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Incomplete checks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86350" y="4823460"/>
            <a:ext cx="50863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A passing test can miss risk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15600" y="4823460"/>
            <a:ext cx="70294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Security-specific checks + human review</a:t>
            </a:r>
          </a:p>
        </p:txBody>
      </p:sp>
      <p:sp>
        <p:nvSpPr>
          <p:cNvPr name="AutoShape 16" id="16"/>
          <p:cNvSpPr/>
          <p:nvPr/>
        </p:nvSpPr>
        <p:spPr>
          <a:xfrm rot="2580">
            <a:off x="736597" y="5447347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742950" y="5646420"/>
            <a:ext cx="40576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Unsafe repair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86350" y="5646420"/>
            <a:ext cx="50863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A patch introduces new failures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15600" y="5646420"/>
            <a:ext cx="70294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Bounded attempts + rollback</a:t>
            </a:r>
          </a:p>
        </p:txBody>
      </p:sp>
      <p:sp>
        <p:nvSpPr>
          <p:cNvPr name="AutoShape 20" id="20"/>
          <p:cNvSpPr/>
          <p:nvPr/>
        </p:nvSpPr>
        <p:spPr>
          <a:xfrm rot="2580">
            <a:off x="736597" y="627030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742950" y="6469380"/>
            <a:ext cx="40576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Poisoned context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86350" y="6469380"/>
            <a:ext cx="50863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Misleading inputs affect reasoning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15600" y="6469380"/>
            <a:ext cx="70294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37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Scope control + provenance review</a:t>
            </a:r>
          </a:p>
        </p:txBody>
      </p:sp>
      <p:sp>
        <p:nvSpPr>
          <p:cNvPr name="AutoShape 24" id="24"/>
          <p:cNvSpPr/>
          <p:nvPr/>
        </p:nvSpPr>
        <p:spPr>
          <a:xfrm rot="2580">
            <a:off x="736597" y="709326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742950" y="786384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SCALABILITY PATH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2950" y="853821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ONE CODEBASE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86275" y="850392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A45F3D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43475" y="853821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RELIABLE GATES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686800" y="850392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A45F3D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0" y="853821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TEAM WORKSPACE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87325" y="8503920"/>
            <a:ext cx="4000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A45F3D"/>
                </a:solidFill>
                <a:latin typeface="Aptos"/>
                <a:ea typeface="Aptos"/>
                <a:cs typeface="Aptos"/>
                <a:sym typeface="Aptos"/>
              </a:rPr>
              <a:t>→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44525" y="8538210"/>
            <a:ext cx="38004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PRIVATE MULTI-REPO RUNTIME</a:t>
            </a:r>
          </a:p>
        </p:txBody>
      </p:sp>
      <p:pic>
        <p:nvPicPr>
          <p:cNvPr name="Picture 33" id="3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2907" t="0" r="2907" b="5814"/>
          <a:stretch>
            <a:fillRect/>
          </a:stretch>
        </p:blipFill>
        <p:spPr>
          <a:xfrm flipH="false" flipV="false" rot="0">
            <a:off x="15418745" y="196301"/>
            <a:ext cx="2279363" cy="6838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33"/>
                </p:tgtEl>
              </p:cMediaNode>
            </p:video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11 / COMPETITIVE ADVANTAGE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Context, verification and approval belong in one workflow.</a:t>
            </a:r>
          </a:p>
        </p:txBody>
      </p:sp>
      <p:sp>
        <p:nvSpPr>
          <p:cNvPr name="AutoShape 4" id="4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AVANTA / PRIVANTRIX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11 /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3122295"/>
            <a:ext cx="6858000" cy="355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9"/>
              </a:lnSpc>
            </a:pPr>
            <a:r>
              <a:rPr lang="en-US" sz="4374">
                <a:solidFill>
                  <a:srgbClr val="A45F3D"/>
                </a:solidFill>
                <a:latin typeface="Georgia"/>
                <a:ea typeface="Georgia"/>
                <a:cs typeface="Georgia"/>
                <a:sym typeface="Georgia"/>
              </a:rPr>
              <a:t>Make the reason</a:t>
            </a:r>
          </a:p>
          <a:p>
            <a:pPr algn="l">
              <a:lnSpc>
                <a:spcPts val="5249"/>
              </a:lnSpc>
            </a:pPr>
            <a:r>
              <a:rPr lang="en-US" sz="4374">
                <a:solidFill>
                  <a:srgbClr val="A45F3D"/>
                </a:solidFill>
                <a:latin typeface="Georgia"/>
                <a:ea typeface="Georgia"/>
                <a:cs typeface="Georgia"/>
                <a:sym typeface="Georgia"/>
              </a:rPr>
              <a:t>for trust</a:t>
            </a:r>
          </a:p>
          <a:p>
            <a:pPr algn="l">
              <a:lnSpc>
                <a:spcPts val="5249"/>
              </a:lnSpc>
            </a:pPr>
            <a:r>
              <a:rPr lang="en-US" sz="4374">
                <a:solidFill>
                  <a:srgbClr val="A45F3D"/>
                </a:solidFill>
                <a:latin typeface="Georgia"/>
                <a:ea typeface="Georgia"/>
                <a:cs typeface="Georgia"/>
                <a:sym typeface="Georgia"/>
              </a:rPr>
              <a:t>inspectable.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01000" y="3086100"/>
            <a:ext cx="800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72550" y="3086100"/>
            <a:ext cx="8572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Context follows the change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72550" y="3735705"/>
            <a:ext cx="85725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Rudra links code context with candidate repair.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01000" y="4754880"/>
            <a:ext cx="800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72550" y="4754880"/>
            <a:ext cx="8572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Checks shape the decision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72550" y="5404485"/>
            <a:ext cx="85725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Verification results accompany the proposed change.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01000" y="6423660"/>
            <a:ext cx="8001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72550" y="6423660"/>
            <a:ext cx="8572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People retain approval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72550" y="7073265"/>
            <a:ext cx="8572500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A human gate closes the assurance loop.</a:t>
            </a:r>
          </a:p>
        </p:txBody>
      </p:sp>
      <p:sp>
        <p:nvSpPr>
          <p:cNvPr name="AutoShape 17" id="17"/>
          <p:cNvSpPr/>
          <p:nvPr/>
        </p:nvSpPr>
        <p:spPr>
          <a:xfrm rot="2580">
            <a:off x="736597" y="811053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742950" y="841248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FUTURE DIRECTION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2950" y="8894445"/>
            <a:ext cx="1680210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Controlled run → review feedback → CI integration → private team memory</a:t>
            </a:r>
          </a:p>
        </p:txBody>
      </p:sp>
      <p:pic>
        <p:nvPicPr>
          <p:cNvPr name="Picture 20" id="20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2907" t="0" r="2907" b="5814"/>
          <a:stretch>
            <a:fillRect/>
          </a:stretch>
        </p:blipFill>
        <p:spPr>
          <a:xfrm flipH="false" flipV="false" rot="0">
            <a:off x="15418745" y="196301"/>
            <a:ext cx="2279363" cy="6838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12 / TEAM &amp; VISION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950" y="1156335"/>
            <a:ext cx="16802100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125">
                <a:solidFill>
                  <a:srgbClr val="191918"/>
                </a:solidFill>
                <a:latin typeface="Georgia"/>
                <a:ea typeface="Georgia"/>
                <a:cs typeface="Georgia"/>
                <a:sym typeface="Georgia"/>
              </a:rPr>
              <a:t>Build software trust that a person can inspect.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2950" y="2663190"/>
            <a:ext cx="8115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THE TEAM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2950" y="3383280"/>
            <a:ext cx="8001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Pranav Kumar Mishra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2950" y="3956685"/>
            <a:ext cx="800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>
                <a:solidFill>
                  <a:srgbClr val="A45F3D"/>
                </a:solidFill>
                <a:latin typeface="Aptos"/>
                <a:ea typeface="Aptos"/>
                <a:cs typeface="Aptos"/>
                <a:sym typeface="Aptos"/>
              </a:rPr>
              <a:t>Team Lead / System Architect / Lead Developer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4573905"/>
            <a:ext cx="8001000" cy="66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System leadership, architecture and development.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2950" y="5497830"/>
            <a:ext cx="8001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125" b="true">
                <a:solidFill>
                  <a:srgbClr val="191918"/>
                </a:solidFill>
                <a:latin typeface="Aptos Bold"/>
                <a:ea typeface="Aptos Bold"/>
                <a:cs typeface="Aptos Bold"/>
                <a:sym typeface="Aptos Bold"/>
              </a:rPr>
              <a:t>Aryan Kashyap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2950" y="6071235"/>
            <a:ext cx="8001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>
                <a:solidFill>
                  <a:srgbClr val="A45F3D"/>
                </a:solidFill>
                <a:latin typeface="Aptos"/>
                <a:ea typeface="Aptos"/>
                <a:cs typeface="Aptos"/>
                <a:sym typeface="Aptos"/>
              </a:rPr>
              <a:t>Research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2950" y="6688455"/>
            <a:ext cx="8001000" cy="66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Research and comparative analysis.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86900" y="2663190"/>
            <a:ext cx="8001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WHERE WE TAKE THIS NEXT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6900" y="3406140"/>
            <a:ext cx="685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78440" y="3406140"/>
            <a:ext cx="714375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Complete one controlled end-to-end run.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86900" y="4229100"/>
            <a:ext cx="685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78440" y="4229100"/>
            <a:ext cx="714375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Inspect failures as well as passes.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86900" y="5052060"/>
            <a:ext cx="685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78440" y="5052060"/>
            <a:ext cx="714375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Refine the reviewer evidence packet.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86900" y="5875020"/>
            <a:ext cx="6858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78440" y="5875020"/>
            <a:ext cx="714375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191918"/>
                </a:solidFill>
                <a:latin typeface="Aptos"/>
                <a:ea typeface="Aptos"/>
                <a:cs typeface="Aptos"/>
                <a:sym typeface="Aptos"/>
              </a:rPr>
              <a:t>Expand into a bounded team pilot.</a:t>
            </a:r>
          </a:p>
        </p:txBody>
      </p:sp>
      <p:sp>
        <p:nvSpPr>
          <p:cNvPr name="AutoShape 20" id="20"/>
          <p:cNvSpPr/>
          <p:nvPr/>
        </p:nvSpPr>
        <p:spPr>
          <a:xfrm rot="2580">
            <a:off x="736597" y="793908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21" id="21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2907" t="0" r="2907" b="5814"/>
          <a:stretch>
            <a:fillRect/>
          </a:stretch>
        </p:blipFill>
        <p:spPr>
          <a:xfrm flipH="false" flipV="false" rot="0">
            <a:off x="15418745" y="196301"/>
            <a:ext cx="2279363" cy="6838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950" y="480060"/>
            <a:ext cx="1600200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12 / ACKNOWLEDGMENTS</a:t>
            </a:r>
          </a:p>
        </p:txBody>
      </p:sp>
      <p:sp>
        <p:nvSpPr>
          <p:cNvPr name="AutoShape 3" id="3"/>
          <p:cNvSpPr/>
          <p:nvPr/>
        </p:nvSpPr>
        <p:spPr>
          <a:xfrm rot="2580">
            <a:off x="736597" y="966501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42950" y="9820275"/>
            <a:ext cx="13716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AVANTA / PRIVANTRIX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44900" y="9785985"/>
            <a:ext cx="120015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9"/>
              </a:lnSpc>
            </a:pPr>
            <a:r>
              <a:rPr lang="en-US" sz="1374">
                <a:solidFill>
                  <a:srgbClr val="5B5A55"/>
                </a:solidFill>
                <a:latin typeface="Aptos"/>
                <a:ea typeface="Aptos"/>
                <a:cs typeface="Aptos"/>
                <a:sym typeface="Aptos"/>
              </a:rPr>
              <a:t>12 / 12</a:t>
            </a:r>
          </a:p>
        </p:txBody>
      </p:sp>
      <p:sp>
        <p:nvSpPr>
          <p:cNvPr name="AutoShape 6" id="6"/>
          <p:cNvSpPr/>
          <p:nvPr/>
        </p:nvSpPr>
        <p:spPr>
          <a:xfrm rot="2580">
            <a:off x="736597" y="7939088"/>
            <a:ext cx="16814806" cy="0"/>
          </a:xfrm>
          <a:prstGeom prst="line">
            <a:avLst/>
          </a:prstGeom>
          <a:ln cap="rnd" w="9525">
            <a:solidFill>
              <a:srgbClr val="D9D5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742950" y="8263890"/>
            <a:ext cx="1680210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3249">
                <a:solidFill>
                  <a:srgbClr val="A45F3D"/>
                </a:solidFill>
                <a:latin typeface="Georgia"/>
                <a:ea typeface="Georgia"/>
                <a:cs typeface="Georgia"/>
                <a:sym typeface="Georgia"/>
              </a:rPr>
              <a:t>Help teams see why a software change deserves trust.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2950" y="9178290"/>
            <a:ext cx="16002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A45F3D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  <p:pic>
        <p:nvPicPr>
          <p:cNvPr name="Picture 9" id="9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2907" t="0" r="2907" b="5814"/>
          <a:stretch>
            <a:fillRect/>
          </a:stretch>
        </p:blipFill>
        <p:spPr>
          <a:xfrm flipH="false" flipV="false" rot="0">
            <a:off x="15418745" y="196301"/>
            <a:ext cx="2279363" cy="683809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645774" y="1028700"/>
            <a:ext cx="10593420" cy="731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01 — USENIX SECURITY 2026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CUTTING THE FUSE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ACTIONABLE APT ATTACK BLOCKING IN PROVENANCE-BASED IDS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SMALL ANNOTATION UNDERNEATH: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DETECTION ≠ RESPONSE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EXISTING IDS ALERTS STILL NEED ACTIONABLE MITIGATION.</a:t>
            </a:r>
          </a:p>
          <a:p>
            <a:pPr algn="l">
              <a:lnSpc>
                <a:spcPts val="1800"/>
              </a:lnSpc>
            </a:pPr>
            <a:r>
              <a:rPr lang="en-US" b="true" sz="1500" u="sng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  <a:hlinkClick r:id="rId6" tooltip="https://www.usenix.org/conference/usenixsecurity26/presentation/wu-weiheng?utm_source=chatgpt.com"/>
              </a:rPr>
              <a:t>USENIX PAPER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02 — USENIX SECURITY 2025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ORTHRUS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ACHIEVING HIGH QUALITY OF ATTRIBUTION IN PROVENANCE-BASED INTRUSION DETECTION SYSTEMS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ANNOTATION: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ALERT FATIGUE REMAINS UNRESOLVED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SECURITY TEAMS NEED ATTACK CAUSALITY, NOT THOUSANDS OF ALERTS.</a:t>
            </a:r>
          </a:p>
          <a:p>
            <a:pPr algn="l">
              <a:lnSpc>
                <a:spcPts val="1800"/>
              </a:lnSpc>
            </a:pPr>
            <a:r>
              <a:rPr lang="en-US" b="true" sz="1500" u="sng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  <a:hlinkClick r:id="rId7" tooltip="https://www.usenix.org/conference/usenixsecurity25/cycle1-accepted-papers?utm_source=chatgpt.com"/>
              </a:rPr>
              <a:t>USENIX ORTHRUS LISTING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03 — 2025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LARGE LANGUAGE MODELS ARE AUTONOMOUS CYBER DEFENDERS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ANNOTATION: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AUTONOMOUS DEFENSE IS BECOMING TECHNICALLY VIABLE.</a:t>
            </a:r>
          </a:p>
          <a:p>
            <a:pPr algn="l">
              <a:lnSpc>
                <a:spcPts val="1800"/>
              </a:lnSpc>
            </a:pPr>
            <a:r>
              <a:rPr lang="en-US" b="true" sz="1500" u="sng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  <a:hlinkClick r:id="rId8" tooltip="https://arxiv.org/abs/2505.04843?utm_source=chatgpt.com"/>
              </a:rPr>
              <a:t>READ THE PAPER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04 — USENIX SECURITY 2025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CHAINFUZZ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EXPLOITING UPSTREAM VULNERABILITIES IN OPEN-SOURCE SUPPLY CHAINS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ANNOTATION: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 VULNERABILITY UPSTREAM CAN BECOME YOUR VULNERABILITY DOWNSTREAM.</a:t>
            </a:r>
          </a:p>
          <a:p>
            <a:pPr algn="l">
              <a:lnSpc>
                <a:spcPts val="1800"/>
              </a:lnSpc>
            </a:pPr>
            <a:r>
              <a:rPr lang="en-US" b="true" sz="1500" u="sng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  <a:hlinkClick r:id="rId9" tooltip="https://www.usenix.org/conference/usenixsecurity25/presentation/deng?utm_source=chatgpt.com"/>
              </a:rPr>
              <a:t>USENIX CHAINFUZZ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05 — 2025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FOREWARNED IS FOREARMED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LLM-BASED AGENTS IN AUTONOMOUS CYBERATTACKS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ANNOTATION: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ATTACKERS ARE BECOMING AUTONOMOUS TOO.</a:t>
            </a:r>
          </a:p>
          <a:p>
            <a:pPr algn="l">
              <a:lnSpc>
                <a:spcPts val="1800"/>
              </a:lnSpc>
            </a:pPr>
          </a:p>
          <a:p>
            <a:pPr algn="l">
              <a:lnSpc>
                <a:spcPts val="180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70939" y="1505768"/>
            <a:ext cx="8350825" cy="6889431"/>
          </a:xfrm>
          <a:custGeom>
            <a:avLst/>
            <a:gdLst/>
            <a:ahLst/>
            <a:cxnLst/>
            <a:rect r="r" b="b" t="t" l="l"/>
            <a:pathLst>
              <a:path h="6889431" w="8350825">
                <a:moveTo>
                  <a:pt x="0" y="0"/>
                </a:moveTo>
                <a:lnTo>
                  <a:pt x="8350824" y="0"/>
                </a:lnTo>
                <a:lnTo>
                  <a:pt x="8350824" y="6889430"/>
                </a:lnTo>
                <a:lnTo>
                  <a:pt x="0" y="6889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2907" t="0" r="2907" b="5814"/>
          <a:stretch>
            <a:fillRect/>
          </a:stretch>
        </p:blipFill>
        <p:spPr>
          <a:xfrm flipH="false" flipV="false" rot="0">
            <a:off x="15418745" y="196301"/>
            <a:ext cx="2279363" cy="6838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DAHUtoqIFdY</dc:identifier>
  <dcterms:modified xsi:type="dcterms:W3CDTF">2011-08-01T06:04:30Z</dcterms:modified>
  <cp:revision>1</cp:revision>
  <dc:title>Avanta_Privantrix_FINAL.pptx</dc:title>
</cp:coreProperties>
</file>