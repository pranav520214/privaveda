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2"/>
    </p:embeddedFont>
    <p:embeddedFont>
      <p:font typeface="Georgia" charset="1" panose="020405020504050203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Sense the air. Make the response visible.</a:t>
            </a:r>
          </a:p>
          <a:p>
            <a:r>
              <a:rPr lang="en-US"/>
              <a:t>Explanation: Sense the air. Make the response visible. Make local environmental information understandable, actionable and maintainable.</a:t>
            </a:r>
          </a:p>
          <a:p>
            <a:r>
              <a:rPr lang="en-US"/>
              <a:t>Handoff: Start with the situation that led to the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A local air signal matters when people can act on it.</a:t>
            </a:r>
          </a:p>
          <a:p>
            <a:r>
              <a:rPr lang="en-US"/>
              <a:t>Explanation: Dust and selected gas conditions need local attention. People need a visible signal they can interpret. Monitoring, airflow and maintenance must work together. Connect a local condition</a:t>
            </a:r>
          </a:p>
          <a:p>
            <a:r>
              <a:rPr lang="en-US"/>
              <a:t>to a local response.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Sensing and filtration need a useful local interface.</a:t>
            </a:r>
          </a:p>
          <a:p>
            <a:r>
              <a:rPr lang="en-US"/>
              <a:t>Explanation: Our design brings the air path and the user-facing signal into one unit. The comparison is about the role each approach plays in the workflow.</a:t>
            </a:r>
          </a:p>
          <a:p>
            <a:r>
              <a:rPr lang="en-US"/>
              <a:t>Handoff: Here is how the system connects those needs.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Connect the air path to a visible local response.</a:t>
            </a:r>
          </a:p>
          <a:p>
            <a:r>
              <a:rPr lang="en-US"/>
              <a:t>Explanation: Readings and service checks guide calibration and filter maintenance. Follow the diagram from input to the person who makes the decision.</a:t>
            </a:r>
          </a:p>
          <a:p>
            <a:r>
              <a:rPr lang="en-US"/>
              <a:t>Handoff: Now look inside the architecture.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Product design and software meet at one device.</a:t>
            </a:r>
          </a:p>
          <a:p>
            <a:r>
              <a:rPr lang="en-US"/>
              <a:t>Explanation: Design focus: sensing, airflow, power and an understandable local interface. Each layer has a distinct responsibility within the system design.</a:t>
            </a:r>
          </a:p>
          <a:p>
            <a:r>
              <a:rPr lang="en-US"/>
              <a:t>Handoff: Next, look at the prototype and demonstration.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We brought the physical system into one assembly.</a:t>
            </a:r>
          </a:p>
          <a:p>
            <a:r>
              <a:rPr lang="en-US"/>
              <a:t>Explanation: The enclosure, vertical air-path elements, display and panel are assembled into one device. Point to the numbered elements, then explain the next engineering milestone: Calibrated sensor readings and controlled air-path measurements.</a:t>
            </a:r>
          </a:p>
          <a:p>
            <a:r>
              <a:rPr lang="en-US"/>
              <a:t>Handoff: Return to the person using the 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Start where monitoring and maintenance happen together.</a:t>
            </a:r>
          </a:p>
          <a:p>
            <a:r>
              <a:rPr lang="en-US"/>
              <a:t>Explanation: Use the journey beneath the three user groups to show how information becomes an action.</a:t>
            </a:r>
          </a:p>
          <a:p>
            <a:r>
              <a:rPr lang="en-US"/>
              <a:t>Handoff: That leads to the outcomes we want to measure.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Make local air conditions clearer—and performance measurable.</a:t>
            </a:r>
          </a:p>
          <a:p>
            <a:r>
              <a:rPr lang="en-US"/>
              <a:t>Explanation: These are expected benefits. The validation plan measures sensor agreement, particulate change, power demand, alert response. Each metric answers a different engineering question.</a:t>
            </a:r>
          </a:p>
          <a:p>
            <a:r>
              <a:rPr lang="en-US"/>
              <a:t>Handoff: Those measurements shape the deployment path.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Calibrate one unit, then build the pilot around it.</a:t>
            </a:r>
          </a:p>
          <a:p>
            <a:r>
              <a:rPr lang="en-US"/>
              <a:t>Explanation: A serviceable unit pairs locally available materials with calibration and routine maintenance. Each stage prepares the system for the next level of use.</a:t>
            </a:r>
          </a:p>
          <a:p>
            <a:r>
              <a:rPr lang="en-US"/>
              <a:t>Handoff: The next question is what can fail and how we respond.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Reliable readings depend on a maintainable device.</a:t>
            </a:r>
          </a:p>
          <a:p>
            <a:r>
              <a:rPr lang="en-US"/>
              <a:t>Explanation: The risk table links a concrete failure to an engineering response. Follow the scale path only as each stage meets its validation priorities.</a:t>
            </a:r>
          </a:p>
          <a:p>
            <a:r>
              <a:rPr lang="en-US"/>
              <a:t>Handoff: These choices explain what makes the design distinctive.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Sensing, physical design and local feedback belong together.</a:t>
            </a:r>
          </a:p>
          <a:p>
            <a:r>
              <a:rPr lang="en-US"/>
              <a:t>Explanation: Enclosure, electronics, display and panel in one assembly. The product makes readings visible and servicing practical. Monitoring is connected to an operator response. The future direction continues this engineering focus.</a:t>
            </a:r>
          </a:p>
          <a:p>
            <a:r>
              <a:rPr lang="en-US"/>
              <a:t>Handoff: The next step belongs to our team.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Aditya</a:t>
            </a:r>
          </a:p>
          <a:p>
            <a:r>
              <a:rPr lang="en-US"/>
              <a:t>Opening: Make environmental information useful where people live and work.</a:t>
            </a:r>
          </a:p>
          <a:p>
            <a:r>
              <a:rPr lang="en-US"/>
              <a:t>Explanation: Make local environmental information understandable, actionable and maintainable. Close by inviting feedback on the next engineering milestone.</a:t>
            </a:r>
          </a:p>
          <a:p>
            <a:r>
              <a:rPr lang="en-US"/>
              <a:t>Handoff: Thank you. We welcome your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917241" y="1566072"/>
            <a:ext cx="5426078" cy="7212016"/>
            <a:chOff x="0" y="0"/>
            <a:chExt cx="7234771" cy="96160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34809" cy="9616059"/>
            </a:xfrm>
            <a:custGeom>
              <a:avLst/>
              <a:gdLst/>
              <a:ahLst/>
              <a:cxnLst/>
              <a:rect r="r" b="b" t="t" l="l"/>
              <a:pathLst>
                <a:path h="9616059" w="7234809">
                  <a:moveTo>
                    <a:pt x="0" y="0"/>
                  </a:moveTo>
                  <a:lnTo>
                    <a:pt x="7234809" y="0"/>
                  </a:lnTo>
                  <a:lnTo>
                    <a:pt x="7234809" y="9616059"/>
                  </a:lnTo>
                  <a:lnTo>
                    <a:pt x="0" y="961605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10058400" y="2493169"/>
            <a:ext cx="7143750" cy="5357812"/>
            <a:chOff x="0" y="0"/>
            <a:chExt cx="9525000" cy="7143750"/>
          </a:xfrm>
        </p:grpSpPr>
        <p:sp>
          <p:nvSpPr>
            <p:cNvPr name="Freeform 6" id="6"/>
            <p:cNvSpPr/>
            <p:nvPr/>
          </p:nvSpPr>
          <p:spPr>
            <a:xfrm flipH="false" flipV="false" rot="-5339882">
              <a:off x="1107892" y="-1252356"/>
              <a:ext cx="7309217" cy="9648463"/>
            </a:xfrm>
            <a:custGeom>
              <a:avLst/>
              <a:gdLst/>
              <a:ahLst/>
              <a:cxnLst/>
              <a:rect r="r" b="b" t="t" l="l"/>
              <a:pathLst>
                <a:path h="9648463" w="7309217">
                  <a:moveTo>
                    <a:pt x="7142657" y="0"/>
                  </a:moveTo>
                  <a:lnTo>
                    <a:pt x="7309216" y="9523543"/>
                  </a:lnTo>
                  <a:lnTo>
                    <a:pt x="166559" y="9648462"/>
                  </a:lnTo>
                  <a:lnTo>
                    <a:pt x="0" y="124919"/>
                  </a:lnTo>
                  <a:lnTo>
                    <a:pt x="7142657" y="0"/>
                  </a:lnTo>
                  <a:close/>
                </a:path>
              </a:pathLst>
            </a:custGeom>
            <a:blipFill>
              <a:blip r:embed="rId3"/>
              <a:stretch>
                <a:fillRect l="-1765" t="-3385" r="-12876" b="-1241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01 / COVER SLIDE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01 / 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950" y="1762125"/>
            <a:ext cx="82296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ECO</a:t>
            </a:r>
          </a:p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GUARDIAN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50" y="4162425"/>
            <a:ext cx="73152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Sense the air.</a:t>
            </a:r>
          </a:p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Make the response visible.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950" y="6195060"/>
            <a:ext cx="7543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TEAM ECO GUARDIAN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950" y="675513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Aditya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718947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Team Lead / Chief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768096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811530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Lead Software / Software Engineering &amp;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8972550"/>
            <a:ext cx="1680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Theme: Climate &amp; Sustainable 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02 / PROBLEM &amp;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local air signal matters when people can act on it.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02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5806" y="2907506"/>
            <a:ext cx="608648" cy="608648"/>
            <a:chOff x="0" y="0"/>
            <a:chExt cx="811530" cy="81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2931795"/>
            <a:ext cx="594360" cy="560070"/>
            <a:chOff x="0" y="0"/>
            <a:chExt cx="792480" cy="746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4500" y="291465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Conditions change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" y="353377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Dust and selected gas conditions need local attention.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35806" y="4576286"/>
            <a:ext cx="608648" cy="608648"/>
            <a:chOff x="0" y="0"/>
            <a:chExt cx="811530" cy="811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4600575"/>
            <a:ext cx="594360" cy="560070"/>
            <a:chOff x="0" y="0"/>
            <a:chExt cx="792480" cy="746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4500" y="458343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 reading needs meaning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520255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People need a visible signal they can interpret.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5806" y="6245066"/>
            <a:ext cx="608648" cy="608648"/>
            <a:chOff x="0" y="0"/>
            <a:chExt cx="811530" cy="8115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42950" y="6269355"/>
            <a:ext cx="594360" cy="560070"/>
            <a:chOff x="0" y="0"/>
            <a:chExt cx="792480" cy="74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500" y="625221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Action needs a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500" y="687133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Monitoring, airflow and maintenance must work together.</a:t>
            </a:r>
          </a:p>
        </p:txBody>
      </p:sp>
      <p:sp>
        <p:nvSpPr>
          <p:cNvPr name="AutoShape 28" id="28"/>
          <p:cNvSpPr/>
          <p:nvPr/>
        </p:nvSpPr>
        <p:spPr>
          <a:xfrm rot="6420">
            <a:off x="10737847" y="2967038"/>
            <a:ext cx="6813566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744200" y="3419475"/>
            <a:ext cx="66294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Connect a local condition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to a local response.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44200" y="596646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AIR CONDITIONS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4200" y="664083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LOCAL SIGNAL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44200" y="731520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HUMAN RESPONSE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03 / EXISTING SOLUTIONS &amp; GAP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Sensing and filtration need a useful local interface.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03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834640"/>
            <a:ext cx="3714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2834640"/>
            <a:ext cx="59436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WHAT IT OFFERS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01300" y="2834640"/>
            <a:ext cx="7143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MISSION / WORKFLOW FIT</a:t>
            </a:r>
          </a:p>
        </p:txBody>
      </p:sp>
      <p:sp>
        <p:nvSpPr>
          <p:cNvPr name="AutoShape 10" id="10"/>
          <p:cNvSpPr/>
          <p:nvPr/>
        </p:nvSpPr>
        <p:spPr>
          <a:xfrm rot="2580">
            <a:off x="736597" y="34128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42950" y="36671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Air purifier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7700" y="36671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Air treatment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300" y="36671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Monitoring and action depend on the product.</a:t>
            </a:r>
          </a:p>
        </p:txBody>
      </p:sp>
      <p:sp>
        <p:nvSpPr>
          <p:cNvPr name="AutoShape 14" id="14"/>
          <p:cNvSpPr/>
          <p:nvPr/>
        </p:nvSpPr>
        <p:spPr>
          <a:xfrm rot="2580">
            <a:off x="736597" y="44300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42950" y="46386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Air-quality meter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7700" y="46386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Local readings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1300" y="46386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The operator interprets and responds.</a:t>
            </a:r>
          </a:p>
        </p:txBody>
      </p:sp>
      <p:sp>
        <p:nvSpPr>
          <p:cNvPr name="AutoShape 18" id="18"/>
          <p:cNvSpPr/>
          <p:nvPr/>
        </p:nvSpPr>
        <p:spPr>
          <a:xfrm rot="2580">
            <a:off x="736597" y="54016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42950" y="56102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Gas monitor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7700" y="56102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Gas-specific monitoring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1300" y="56102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Sensor choice and calibration set the scope.</a:t>
            </a:r>
          </a:p>
        </p:txBody>
      </p:sp>
      <p:sp>
        <p:nvSpPr>
          <p:cNvPr name="AutoShape 22" id="22"/>
          <p:cNvSpPr/>
          <p:nvPr/>
        </p:nvSpPr>
        <p:spPr>
          <a:xfrm rot="2580">
            <a:off x="736597" y="63731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42950" y="65817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Eco Guardian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57700" y="65817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Integrated physical design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1300" y="65817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Sensing + filtration + local feedback.</a:t>
            </a:r>
          </a:p>
        </p:txBody>
      </p:sp>
      <p:sp>
        <p:nvSpPr>
          <p:cNvPr name="AutoShape 26" id="26"/>
          <p:cNvSpPr/>
          <p:nvPr/>
        </p:nvSpPr>
        <p:spPr>
          <a:xfrm rot="2580">
            <a:off x="736597" y="73447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42950" y="8187690"/>
            <a:ext cx="166878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Our design brings the air path and the user-facing signal into one unit.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04 / 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Connect the air path to a visible local response.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04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517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ENVIRONMENTAL MONITORING WORKFLOW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604736"/>
            <a:ext cx="620078" cy="620078"/>
            <a:chOff x="0" y="0"/>
            <a:chExt cx="826770" cy="8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629025"/>
            <a:ext cx="605790" cy="571500"/>
            <a:chOff x="0" y="0"/>
            <a:chExt cx="80772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2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Intake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Local air conditions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3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604736"/>
            <a:ext cx="620078" cy="620078"/>
            <a:chOff x="0" y="0"/>
            <a:chExt cx="826770" cy="826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629025"/>
            <a:ext cx="605790" cy="571500"/>
            <a:chOff x="0" y="0"/>
            <a:chExt cx="80772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71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Sense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71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Dust + selected gas signals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32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604736"/>
            <a:ext cx="620078" cy="620078"/>
            <a:chOff x="0" y="0"/>
            <a:chExt cx="826770" cy="8267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629025"/>
            <a:ext cx="605790" cy="571500"/>
            <a:chOff x="0" y="0"/>
            <a:chExt cx="80772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00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Control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0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Microcontroller logic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61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604736"/>
            <a:ext cx="620078" cy="620078"/>
            <a:chOff x="0" y="0"/>
            <a:chExt cx="826770" cy="8267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629025"/>
            <a:ext cx="605790" cy="571500"/>
            <a:chOff x="0" y="0"/>
            <a:chExt cx="80772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029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Filter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29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Multi-stage air path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90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604736"/>
            <a:ext cx="620078" cy="620078"/>
            <a:chOff x="0" y="0"/>
            <a:chExt cx="826770" cy="826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629025"/>
            <a:ext cx="605790" cy="571500"/>
            <a:chOff x="0" y="0"/>
            <a:chExt cx="80772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458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Inform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58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Display + local warning</a:t>
            </a:r>
          </a:p>
        </p:txBody>
      </p:sp>
      <p:sp>
        <p:nvSpPr>
          <p:cNvPr name="AutoShape 47" id="47"/>
          <p:cNvSpPr/>
          <p:nvPr/>
        </p:nvSpPr>
        <p:spPr>
          <a:xfrm rot="2580">
            <a:off x="736597" y="71389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742950" y="7671435"/>
            <a:ext cx="168021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Readings and service checks guide calibration and filter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05 / TECHNOLOGY &amp; INNOVATION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Product design and software meet at one device.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05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953263" y="2811942"/>
            <a:ext cx="4208783" cy="5588956"/>
            <a:chOff x="0" y="0"/>
            <a:chExt cx="5611711" cy="7451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11749" cy="7451979"/>
            </a:xfrm>
            <a:custGeom>
              <a:avLst/>
              <a:gdLst/>
              <a:ahLst/>
              <a:cxnLst/>
              <a:rect r="r" b="b" t="t" l="l"/>
              <a:pathLst>
                <a:path h="7451979" w="5611749">
                  <a:moveTo>
                    <a:pt x="0" y="0"/>
                  </a:moveTo>
                  <a:lnTo>
                    <a:pt x="5611749" y="0"/>
                  </a:lnTo>
                  <a:lnTo>
                    <a:pt x="5611749" y="7451979"/>
                  </a:lnTo>
                  <a:lnTo>
                    <a:pt x="0" y="745197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297305" y="3536156"/>
            <a:ext cx="5520690" cy="4140517"/>
            <a:chOff x="0" y="0"/>
            <a:chExt cx="7360920" cy="5520690"/>
          </a:xfrm>
        </p:grpSpPr>
        <p:sp>
          <p:nvSpPr>
            <p:cNvPr name="Freeform 10" id="10"/>
            <p:cNvSpPr/>
            <p:nvPr/>
          </p:nvSpPr>
          <p:spPr>
            <a:xfrm flipH="false" flipV="false" rot="-5297584">
              <a:off x="811710" y="-1000704"/>
              <a:ext cx="5737500" cy="7522098"/>
            </a:xfrm>
            <a:custGeom>
              <a:avLst/>
              <a:gdLst/>
              <a:ahLst/>
              <a:cxnLst/>
              <a:rect r="r" b="b" t="t" l="l"/>
              <a:pathLst>
                <a:path h="7522098" w="5737500">
                  <a:moveTo>
                    <a:pt x="5518240" y="0"/>
                  </a:moveTo>
                  <a:lnTo>
                    <a:pt x="5737500" y="7357653"/>
                  </a:lnTo>
                  <a:lnTo>
                    <a:pt x="219259" y="7522098"/>
                  </a:lnTo>
                  <a:lnTo>
                    <a:pt x="0" y="164445"/>
                  </a:lnTo>
                  <a:lnTo>
                    <a:pt x="5518240" y="0"/>
                  </a:lnTo>
                  <a:close/>
                </a:path>
              </a:pathLst>
            </a:custGeom>
            <a:blipFill>
              <a:blip r:embed="rId3"/>
              <a:stretch>
                <a:fillRect l="-11338" t="-7" r="-16956" b="-306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01000" y="27660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01 / PRODUCT DESIGN / ADITYA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0" y="32118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Jute-based enclosure and a structured air-path concept.</a:t>
            </a:r>
          </a:p>
        </p:txBody>
      </p:sp>
      <p:sp>
        <p:nvSpPr>
          <p:cNvPr name="AutoShape 13" id="13"/>
          <p:cNvSpPr/>
          <p:nvPr/>
        </p:nvSpPr>
        <p:spPr>
          <a:xfrm rot="4560">
            <a:off x="7994647" y="39271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001000" y="41376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02 / SENSING +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1000" y="45834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Dust, gas and environmental signals connect to controller logic.</a:t>
            </a:r>
          </a:p>
        </p:txBody>
      </p:sp>
      <p:sp>
        <p:nvSpPr>
          <p:cNvPr name="AutoShape 16" id="16"/>
          <p:cNvSpPr/>
          <p:nvPr/>
        </p:nvSpPr>
        <p:spPr>
          <a:xfrm rot="4560">
            <a:off x="7994647" y="52987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001000" y="55092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03 / SOFTWARE / PRANAV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1000" y="59550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Readings, thresholds and the local information workflow.</a:t>
            </a:r>
          </a:p>
        </p:txBody>
      </p:sp>
      <p:sp>
        <p:nvSpPr>
          <p:cNvPr name="AutoShape 19" id="19"/>
          <p:cNvSpPr/>
          <p:nvPr/>
        </p:nvSpPr>
        <p:spPr>
          <a:xfrm rot="4560">
            <a:off x="7994647" y="6670357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01000" y="68808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04 / POWER + INTERFACE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01000" y="73266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Solar-power concept, display and local feedback.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8814435"/>
            <a:ext cx="168021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Design focus: sensing, airflow, power and an understandable local interface.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06 / PROTOTYPE / MVP /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We brought the physical system into one assembly.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06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4345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PHYSICAL PROTOTYPE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186399" y="3051972"/>
            <a:ext cx="4200211" cy="5577526"/>
            <a:chOff x="0" y="0"/>
            <a:chExt cx="5600281" cy="74367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00319" cy="7436739"/>
            </a:xfrm>
            <a:custGeom>
              <a:avLst/>
              <a:gdLst/>
              <a:ahLst/>
              <a:cxnLst/>
              <a:rect r="r" b="b" t="t" l="l"/>
              <a:pathLst>
                <a:path h="7436739" w="5600319">
                  <a:moveTo>
                    <a:pt x="0" y="0"/>
                  </a:moveTo>
                  <a:lnTo>
                    <a:pt x="5600319" y="0"/>
                  </a:lnTo>
                  <a:lnTo>
                    <a:pt x="5600319" y="7436739"/>
                  </a:lnTo>
                  <a:lnTo>
                    <a:pt x="0" y="7436739"/>
                  </a:lnTo>
                  <a:close/>
                </a:path>
              </a:pathLst>
            </a:custGeom>
            <a:solidFill>
              <a:srgbClr val="FFFDF8"/>
            </a:solidFill>
            <a:ln w="11112" cap="sq">
              <a:solidFill>
                <a:srgbClr val="D9D5C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3531870" y="3774758"/>
            <a:ext cx="5509260" cy="4131945"/>
            <a:chOff x="0" y="0"/>
            <a:chExt cx="7345680" cy="5509260"/>
          </a:xfrm>
        </p:grpSpPr>
        <p:sp>
          <p:nvSpPr>
            <p:cNvPr name="Freeform 11" id="11" descr="image.jpg"/>
            <p:cNvSpPr/>
            <p:nvPr/>
          </p:nvSpPr>
          <p:spPr>
            <a:xfrm flipH="false" flipV="false" rot="0">
              <a:off x="0" y="0"/>
              <a:ext cx="7345680" cy="5509260"/>
            </a:xfrm>
            <a:custGeom>
              <a:avLst/>
              <a:gdLst/>
              <a:ahLst/>
              <a:cxnLst/>
              <a:rect r="r" b="b" t="t" l="l"/>
              <a:pathLst>
                <a:path h="5509260" w="7345680">
                  <a:moveTo>
                    <a:pt x="0" y="0"/>
                  </a:moveTo>
                  <a:lnTo>
                    <a:pt x="7345680" y="0"/>
                  </a:lnTo>
                  <a:lnTo>
                    <a:pt x="7345680" y="5509260"/>
                  </a:lnTo>
                  <a:lnTo>
                    <a:pt x="0" y="550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593556" y="4244816"/>
            <a:ext cx="402908" cy="402908"/>
            <a:chOff x="0" y="0"/>
            <a:chExt cx="537210" cy="537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5600700" y="4269105"/>
            <a:ext cx="388620" cy="354330"/>
            <a:chOff x="0" y="0"/>
            <a:chExt cx="518160" cy="472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58700" y="305181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01 / AIR-PATH 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8700" y="345186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Vertical elements and enclosure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07956" y="6279356"/>
            <a:ext cx="402908" cy="402908"/>
            <a:chOff x="0" y="0"/>
            <a:chExt cx="537210" cy="5372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515100" y="6303645"/>
            <a:ext cx="388620" cy="354330"/>
            <a:chOff x="0" y="0"/>
            <a:chExt cx="518160" cy="472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58700" y="420624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02 / LOCAL INTERFACE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8700" y="460629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Display and attached electronics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342346" y="7593806"/>
            <a:ext cx="402908" cy="402908"/>
            <a:chOff x="0" y="0"/>
            <a:chExt cx="537210" cy="5372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7210" cy="537210"/>
            </a:xfrm>
            <a:custGeom>
              <a:avLst/>
              <a:gdLst/>
              <a:ahLst/>
              <a:cxnLst/>
              <a:rect r="r" b="b" t="t" l="l"/>
              <a:pathLst>
                <a:path h="537210" w="53721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210" y="120269"/>
                    <a:pt x="537210" y="268605"/>
                  </a:cubicBezTo>
                  <a:cubicBezTo>
                    <a:pt x="537210" y="416941"/>
                    <a:pt x="416941" y="537210"/>
                    <a:pt x="268605" y="537210"/>
                  </a:cubicBezTo>
                  <a:cubicBezTo>
                    <a:pt x="120269" y="537210"/>
                    <a:pt x="0" y="416941"/>
                    <a:pt x="0" y="26860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349490" y="7618095"/>
            <a:ext cx="388620" cy="354330"/>
            <a:chOff x="0" y="0"/>
            <a:chExt cx="518160" cy="472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8160" cy="472440"/>
            </a:xfrm>
            <a:custGeom>
              <a:avLst/>
              <a:gdLst/>
              <a:ahLst/>
              <a:cxnLst/>
              <a:rect r="r" b="b" t="t" l="l"/>
              <a:pathLst>
                <a:path h="472440" w="518160">
                  <a:moveTo>
                    <a:pt x="0" y="0"/>
                  </a:moveTo>
                  <a:lnTo>
                    <a:pt x="518160" y="0"/>
                  </a:lnTo>
                  <a:lnTo>
                    <a:pt x="518160" y="472440"/>
                  </a:lnTo>
                  <a:lnTo>
                    <a:pt x="0" y="472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6982" t="0" r="-6698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18160" cy="472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458700" y="536067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03 / POWER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58700" y="5760720"/>
            <a:ext cx="507492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Panel beside the assembly</a:t>
            </a:r>
          </a:p>
        </p:txBody>
      </p:sp>
      <p:sp>
        <p:nvSpPr>
          <p:cNvPr name="AutoShape 33" id="33"/>
          <p:cNvSpPr/>
          <p:nvPr/>
        </p:nvSpPr>
        <p:spPr>
          <a:xfrm rot="8580">
            <a:off x="12452347" y="6773228"/>
            <a:ext cx="508763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2458700" y="7018020"/>
            <a:ext cx="50749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NEXT ENGINEERING MILESTONE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8700" y="7545705"/>
            <a:ext cx="507492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Calibrated sensor readings and controlled air-path measurements.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2950" y="9029700"/>
            <a:ext cx="168021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The enclosure, vertical air-path elements, display and panel are assembled into one device.</a:t>
            </a:r>
          </a:p>
        </p:txBody>
      </p:sp>
      <p:grpSp>
        <p:nvGrpSpPr>
          <p:cNvPr name="Group 37" id="37"/>
          <p:cNvGrpSpPr/>
          <p:nvPr/>
        </p:nvGrpSpPr>
        <p:grpSpPr>
          <a:xfrm rot="5400000">
            <a:off x="3496313" y="3742058"/>
            <a:ext cx="5520690" cy="4140517"/>
            <a:chOff x="0" y="0"/>
            <a:chExt cx="7360920" cy="5520690"/>
          </a:xfrm>
        </p:grpSpPr>
        <p:sp>
          <p:nvSpPr>
            <p:cNvPr name="Freeform 38" id="38"/>
            <p:cNvSpPr/>
            <p:nvPr/>
          </p:nvSpPr>
          <p:spPr>
            <a:xfrm flipH="false" flipV="false" rot="-5297584">
              <a:off x="811710" y="-1000704"/>
              <a:ext cx="5737500" cy="7522098"/>
            </a:xfrm>
            <a:custGeom>
              <a:avLst/>
              <a:gdLst/>
              <a:ahLst/>
              <a:cxnLst/>
              <a:rect r="r" b="b" t="t" l="l"/>
              <a:pathLst>
                <a:path h="7522098" w="5737500">
                  <a:moveTo>
                    <a:pt x="5518240" y="0"/>
                  </a:moveTo>
                  <a:lnTo>
                    <a:pt x="5737500" y="7357653"/>
                  </a:lnTo>
                  <a:lnTo>
                    <a:pt x="219259" y="7522098"/>
                  </a:lnTo>
                  <a:lnTo>
                    <a:pt x="0" y="164445"/>
                  </a:lnTo>
                  <a:lnTo>
                    <a:pt x="5518240" y="0"/>
                  </a:lnTo>
                  <a:close/>
                </a:path>
              </a:pathLst>
            </a:custGeom>
            <a:blipFill>
              <a:blip r:embed="rId5"/>
              <a:stretch>
                <a:fillRect l="-11338" t="-7" r="-16956" b="-3062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07 / TARGET USERS &amp;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Start where monitoring and maintenance happen together.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07 / 12</a:t>
            </a:r>
          </a:p>
        </p:txBody>
      </p:sp>
      <p:sp>
        <p:nvSpPr>
          <p:cNvPr name="AutoShape 7" id="7"/>
          <p:cNvSpPr/>
          <p:nvPr/>
        </p:nvSpPr>
        <p:spPr>
          <a:xfrm rot="8460">
            <a:off x="736597" y="3058478"/>
            <a:ext cx="5156216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429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CAMPUSES + ECO-CLUBS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Local monitoring and environmental learning.</a:t>
            </a:r>
          </a:p>
        </p:txBody>
      </p:sp>
      <p:sp>
        <p:nvSpPr>
          <p:cNvPr name="AutoShape 10" id="10"/>
          <p:cNvSpPr/>
          <p:nvPr/>
        </p:nvSpPr>
        <p:spPr>
          <a:xfrm rot="8460">
            <a:off x="6508747" y="3058478"/>
            <a:ext cx="5156216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1510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WORKSHOPS + LOCAL SITES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510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local signal connected to a defined response.</a:t>
            </a:r>
          </a:p>
        </p:txBody>
      </p:sp>
      <p:sp>
        <p:nvSpPr>
          <p:cNvPr name="AutoShape 13" id="13"/>
          <p:cNvSpPr/>
          <p:nvPr/>
        </p:nvSpPr>
        <p:spPr>
          <a:xfrm rot="8460">
            <a:off x="12280897" y="3058478"/>
            <a:ext cx="5156216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2872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COMMUNITY OPERATORS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72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Clear readings from a serviceable local unit.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69951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ONE USE-CASE JOURNEY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LOCAL CONDITIONS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627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347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DEVICE READINGS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6800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OPERATOR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732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4452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RESPONSE + SERVICING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680">
            <a:off x="11766547" y="3321367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680">
            <a:off x="11766547" y="411003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680">
            <a:off x="11766547" y="489870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7680">
            <a:off x="11766547" y="568737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35806" y="8188166"/>
            <a:ext cx="722948" cy="722948"/>
            <a:chOff x="0" y="0"/>
            <a:chExt cx="963930" cy="9639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8212455"/>
            <a:ext cx="708660" cy="674370"/>
            <a:chOff x="0" y="0"/>
            <a:chExt cx="944880" cy="899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08306" y="8188166"/>
            <a:ext cx="722948" cy="722948"/>
            <a:chOff x="0" y="0"/>
            <a:chExt cx="963930" cy="963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15450" y="8212455"/>
            <a:ext cx="708660" cy="674370"/>
            <a:chOff x="0" y="0"/>
            <a:chExt cx="944880" cy="899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09157" y="8089845"/>
            <a:ext cx="1039085" cy="1033890"/>
          </a:xfrm>
          <a:custGeom>
            <a:avLst/>
            <a:gdLst/>
            <a:ahLst/>
            <a:cxnLst/>
            <a:rect r="r" b="b" t="t" l="l"/>
            <a:pathLst>
              <a:path h="1033890" w="1039085">
                <a:moveTo>
                  <a:pt x="0" y="0"/>
                </a:moveTo>
                <a:lnTo>
                  <a:pt x="1039086" y="0"/>
                </a:lnTo>
                <a:lnTo>
                  <a:pt x="1039086" y="1033890"/>
                </a:lnTo>
                <a:lnTo>
                  <a:pt x="0" y="103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8188166"/>
            <a:ext cx="1020814" cy="1015709"/>
          </a:xfrm>
          <a:custGeom>
            <a:avLst/>
            <a:gdLst/>
            <a:ahLst/>
            <a:cxnLst/>
            <a:rect r="r" b="b" t="t" l="l"/>
            <a:pathLst>
              <a:path h="1015709" w="1020814">
                <a:moveTo>
                  <a:pt x="0" y="0"/>
                </a:moveTo>
                <a:lnTo>
                  <a:pt x="1020814" y="0"/>
                </a:lnTo>
                <a:lnTo>
                  <a:pt x="1020814" y="1015710"/>
                </a:lnTo>
                <a:lnTo>
                  <a:pt x="0" y="1015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08 / IMPACT &amp; OUTCOMES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Make local air conditions clearer—and performance measurable.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08 / 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950" y="2708910"/>
            <a:ext cx="9715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2900" y="2708910"/>
            <a:ext cx="5715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VALIDATION METRICS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338328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Clearer local awareness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395478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Air conditions translated into visible information.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2950" y="474345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 practical filtration path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2950" y="531495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Physical treatment integrated with the sensing design.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950" y="610362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Maintainable monitoring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" y="667512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unit that connects readings with service needs.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2900" y="353377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Sensor agreement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2900" y="432244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Particulate change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2900" y="511111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Power demand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2900" y="589978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Alert response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SDG 11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Sustainable Cities &amp; Communities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984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SDG 12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84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Responsible Consumption &amp; Production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09 / BUSINESS MODEL &amp;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Calibrate one unit, then build the pilot around it.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09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97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PATH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456146"/>
            <a:ext cx="642938" cy="642938"/>
            <a:chOff x="0" y="0"/>
            <a:chExt cx="857250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80435"/>
            <a:ext cx="628650" cy="594360"/>
            <a:chOff x="0" y="0"/>
            <a:chExt cx="838200" cy="79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19020">
            <a:off x="1593828" y="3778567"/>
            <a:ext cx="2298735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42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Components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Complete the list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456146"/>
            <a:ext cx="642938" cy="642938"/>
            <a:chOff x="0" y="0"/>
            <a:chExt cx="85725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480435"/>
            <a:ext cx="628650" cy="594360"/>
            <a:chOff x="0" y="0"/>
            <a:chExt cx="83820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9020">
            <a:off x="5022828" y="3778567"/>
            <a:ext cx="2298735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171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Calibration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71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Establish baselines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456146"/>
            <a:ext cx="642938" cy="642938"/>
            <a:chOff x="0" y="0"/>
            <a:chExt cx="85725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480435"/>
            <a:ext cx="628650" cy="594360"/>
            <a:chOff x="0" y="0"/>
            <a:chExt cx="83820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9020">
            <a:off x="8451828" y="3778567"/>
            <a:ext cx="2298735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600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Air-path tests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00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Measure performance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456146"/>
            <a:ext cx="642938" cy="642938"/>
            <a:chOff x="0" y="0"/>
            <a:chExt cx="85725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480435"/>
            <a:ext cx="628650" cy="594360"/>
            <a:chOff x="0" y="0"/>
            <a:chExt cx="838200" cy="792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19020">
            <a:off x="11880828" y="3778567"/>
            <a:ext cx="2298735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1029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Campus pilot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29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Logs + servicing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456146"/>
            <a:ext cx="642938" cy="642938"/>
            <a:chOff x="0" y="0"/>
            <a:chExt cx="85725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52724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480435"/>
            <a:ext cx="628650" cy="594360"/>
            <a:chOff x="0" y="0"/>
            <a:chExt cx="838200" cy="79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5272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9020">
            <a:off x="15309828" y="3778567"/>
            <a:ext cx="2298735" cy="0"/>
          </a:xfrm>
          <a:prstGeom prst="line">
            <a:avLst/>
          </a:prstGeom>
          <a:ln cap="rnd" w="9525">
            <a:solidFill>
              <a:srgbClr val="5272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4458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Field evaluation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58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Site-specific use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2950" y="698373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DEPLOYMENT MODEL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295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EDUCATIONAL KIT / CAMPUS UNIT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627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94347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CALIBRATION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86800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SERVICE ACCESS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88732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34452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MAINTENANCE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42950" y="8536305"/>
            <a:ext cx="168021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serviceable unit pairs locally available materials with calibration and routine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10 / FEASIBILITY &amp; SCALABILITY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Reliable readings depend on a maintainable device.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10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1747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ENGINEERING VALIDATION PRIORITIES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143250"/>
            <a:ext cx="168021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Sensor calibration  ·  Airflow  ·  Power demand  ·  Alert thresholds  ·  Service access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091940"/>
            <a:ext cx="4343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4091940"/>
            <a:ext cx="537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0" y="4091940"/>
            <a:ext cx="6972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ENGINEERING RESPONSE</a:t>
            </a:r>
          </a:p>
        </p:txBody>
      </p:sp>
      <p:sp>
        <p:nvSpPr>
          <p:cNvPr name="AutoShape 12" id="12"/>
          <p:cNvSpPr/>
          <p:nvPr/>
        </p:nvSpPr>
        <p:spPr>
          <a:xfrm rot="2580">
            <a:off x="736597" y="45672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42950" y="482346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Sensor drift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6350" y="482346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False or missed local warnings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00" y="482346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Reference calibration + maintenance</a:t>
            </a:r>
          </a:p>
        </p:txBody>
      </p:sp>
      <p:sp>
        <p:nvSpPr>
          <p:cNvPr name="AutoShape 16" id="16"/>
          <p:cNvSpPr/>
          <p:nvPr/>
        </p:nvSpPr>
        <p:spPr>
          <a:xfrm rot="2580">
            <a:off x="736597" y="5447347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42950" y="564642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Filter performance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564642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Air path may miss its objective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5600" y="564642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Paired airflow and particulate tests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62703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42950" y="646938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Environmental exposure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6350" y="646938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Reliability changes over 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15600" y="646938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Enclosure review + routine servicing</a:t>
            </a:r>
          </a:p>
        </p:txBody>
      </p:sp>
      <p:sp>
        <p:nvSpPr>
          <p:cNvPr name="AutoShape 24" id="24"/>
          <p:cNvSpPr/>
          <p:nvPr/>
        </p:nvSpPr>
        <p:spPr>
          <a:xfrm rot="2580">
            <a:off x="736597" y="709326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42950" y="786384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SCALABILITY PATH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ONE CALIBRATED UNIT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627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347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CAMPUS PILOT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86800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MAINTAINABLE DESIGN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8732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452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CONNECTED SITES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11 / COMPETITIVE ADVANTAGE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Sensing, physical design and local feedback belong together.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11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3122295"/>
            <a:ext cx="6858000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A useful signal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needs a useful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physical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0" y="308610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72550" y="308610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An integrated physical build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2550" y="373570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Enclosure, electronics, display and panel in one assembly.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0" y="475488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2550" y="475488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Design and software co-development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2550" y="540448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The product makes readings visible and servicing practical.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1000" y="642366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2550" y="642366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Local feedback at the center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2550" y="707326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Monitoring is connected to an operator response.</a:t>
            </a:r>
          </a:p>
        </p:txBody>
      </p:sp>
      <p:sp>
        <p:nvSpPr>
          <p:cNvPr name="AutoShape 17" id="17"/>
          <p:cNvSpPr/>
          <p:nvPr/>
        </p:nvSpPr>
        <p:spPr>
          <a:xfrm rot="2580">
            <a:off x="736597" y="81105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42950" y="8412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950" y="8894445"/>
            <a:ext cx="168021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Calibration → air-path evaluation → campus pilot → connected monitoring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12 / TEAM &amp;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Make environmental information useful where people live and work.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ECO GUARDIAN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12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63190"/>
            <a:ext cx="8115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THE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38328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Aditya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395668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Team Lead / Chief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950" y="457390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Product leadership, physical design and user-facing system direction.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50" y="549783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950" y="607123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52724E"/>
                </a:solidFill>
                <a:latin typeface="Aptos"/>
                <a:ea typeface="Aptos"/>
                <a:cs typeface="Aptos"/>
                <a:sym typeface="Aptos"/>
              </a:rPr>
              <a:t>Lead Software / Software Engineering &amp;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950" y="668845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Software engineering, control workflow and system architecture.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00" y="2663190"/>
            <a:ext cx="8001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WHERE WE TAKE THIS NEXT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86900" y="340614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8440" y="340614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Calibrate the sensing layer.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6900" y="422910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8440" y="422910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Measure the physical air path.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86900" y="505206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78440" y="505206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Refine servicing and the interface.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86900" y="587502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78440" y="587502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Run a supervised campus pilot.</a:t>
            </a:r>
          </a:p>
        </p:txBody>
      </p:sp>
      <p:sp>
        <p:nvSpPr>
          <p:cNvPr name="AutoShape 23" id="23"/>
          <p:cNvSpPr/>
          <p:nvPr/>
        </p:nvSpPr>
        <p:spPr>
          <a:xfrm rot="2580">
            <a:off x="736597" y="79390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42950" y="8263890"/>
            <a:ext cx="168021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>
                <a:solidFill>
                  <a:srgbClr val="52724E"/>
                </a:solidFill>
                <a:latin typeface="Georgia"/>
                <a:ea typeface="Georgia"/>
                <a:cs typeface="Georgia"/>
                <a:sym typeface="Georgia"/>
              </a:rPr>
              <a:t>Make local environmental information understandable, actionable and maintainable.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91782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2724E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DAHUth6jQWk</dc:identifier>
  <dcterms:modified xsi:type="dcterms:W3CDTF">2011-08-01T06:04:30Z</dcterms:modified>
  <cp:revision>1</cp:revision>
  <dc:title>Eco_Guardian_FINAL.pptx</dc:title>
</cp:coreProperties>
</file>