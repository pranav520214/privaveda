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 Bold" charset="1" panose="020B0004020202020204"/>
      <p:regular r:id="rId21"/>
    </p:embeddedFont>
    <p:embeddedFont>
      <p:font typeface="Aptos" charset="1" panose="020B0004020202020204"/>
      <p:regular r:id="rId22"/>
    </p:embeddedFont>
    <p:embeddedFont>
      <p:font typeface="Georgia" charset="1" panose="020405020504050203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Aerial intelligence for disaster-response decisions.</a:t>
            </a:r>
          </a:p>
          <a:p>
            <a:r>
              <a:rPr lang="en-US"/>
              <a:t>Explanation: Aerial intelligence for disaster-response decisions. Give responders a faster view of places that are hardest to reach.</a:t>
            </a:r>
          </a:p>
          <a:p>
            <a:r>
              <a:rPr lang="en-US"/>
              <a:t>Handoff: Start with the situation that led to the project.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When roads fail, information becomes the first bottleneck.</a:t>
            </a:r>
          </a:p>
          <a:p>
            <a:r>
              <a:rPr lang="en-US"/>
              <a:t>Explanation: Damaged terrain slows ground assessment. Teams need visual context before committing people and resources. An aerial view can guide the next ground response. Information is the</a:t>
            </a:r>
          </a:p>
          <a:p>
            <a:r>
              <a:rPr lang="en-US"/>
              <a:t>first useful handoff.</a:t>
            </a:r>
          </a:p>
          <a:p>
            <a:r>
              <a:rPr lang="en-US"/>
              <a:t>Handoff: That gives us the gap to address.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The mission needs both an aerial view and a local handoff.</a:t>
            </a:r>
          </a:p>
          <a:p>
            <a:r>
              <a:rPr lang="en-US"/>
              <a:t>Explanation: Our design connects the aircraft to the decision on the ground. The comparison is about the role each approach plays in the workflow.</a:t>
            </a:r>
          </a:p>
          <a:p>
            <a:r>
              <a:rPr lang="en-US"/>
              <a:t>Handoff: Here is how the system connects those needs.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From aerial search to an actionable responder handoff.</a:t>
            </a:r>
          </a:p>
          <a:p>
            <a:r>
              <a:rPr lang="en-US"/>
              <a:t>Explanation: Human review connects aircraft observations to field action. Follow the diagram from input to the person who makes the decision.</a:t>
            </a:r>
          </a:p>
          <a:p>
            <a:r>
              <a:rPr lang="en-US"/>
              <a:t>Handoff: Now look inside the architecture.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 / Pranav Kumar Mishra</a:t>
            </a:r>
          </a:p>
          <a:p>
            <a:r>
              <a:rPr lang="en-US"/>
              <a:t>Opening: Aerostructure and software meet in one mission architecture.</a:t>
            </a:r>
          </a:p>
          <a:p>
            <a:r>
              <a:rPr lang="en-US"/>
              <a:t>Explanation: Design focus: a physical platform and an information workflow built around the same mission. Each layer has a distinct responsibility within the system design.</a:t>
            </a:r>
          </a:p>
          <a:p>
            <a:r>
              <a:rPr lang="en-US"/>
              <a:t>Handoff: Next, look at the prototype and demonstration.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We built the airframe around the mission.</a:t>
            </a:r>
          </a:p>
          <a:p>
            <a:r>
              <a:rPr lang="en-US"/>
              <a:t>Explanation: Fixed-wing airframe developed as the platform for the Garuda Vedang disaster-response system. Point to the numbered elements, then explain the next engineering milestone: Integrated flight + mission-system validation.</a:t>
            </a:r>
          </a:p>
          <a:p>
            <a:r>
              <a:rPr lang="en-US"/>
              <a:t>Handoff: Return to the person using the system.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One aircraft workflow serves three response decisions.</a:t>
            </a:r>
          </a:p>
          <a:p>
            <a:r>
              <a:rPr lang="en-US"/>
              <a:t>Explanation: Use the journey beneath the three user groups to show how information becomes an action.</a:t>
            </a:r>
          </a:p>
          <a:p>
            <a:r>
              <a:rPr lang="en-US"/>
              <a:t>Handoff: That leads to the outcomes we want to measure.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Earlier context. More focused search. A clearer handoff.</a:t>
            </a:r>
          </a:p>
          <a:p>
            <a:r>
              <a:rPr lang="en-US"/>
              <a:t>Explanation: These are expected benefits. The validation plan measures flight stability, location accuracy, mission coverage, information handoff time. Each metric answers a different engineering question.</a:t>
            </a:r>
          </a:p>
          <a:p>
            <a:r>
              <a:rPr lang="en-US"/>
              <a:t>Handoff: Those measurements shape the deployment path.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Integrate the aircraft, then take the mission into the field.</a:t>
            </a:r>
          </a:p>
          <a:p>
            <a:r>
              <a:rPr lang="en-US"/>
              <a:t>Explanation: Institutional deployment brings the aircraft, software and operating support together. Each stage prepares the system for the next level of use.</a:t>
            </a:r>
          </a:p>
          <a:p>
            <a:r>
              <a:rPr lang="en-US"/>
              <a:t>Handoff: The next question is what can fail and how we respond.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Control the aircraft. Protect the information. Scale carefully.</a:t>
            </a:r>
          </a:p>
          <a:p>
            <a:r>
              <a:rPr lang="en-US"/>
              <a:t>Explanation: The risk table links a concrete failure to an engineering response. Follow the scale path only as each stage meets its validation priorities.</a:t>
            </a:r>
          </a:p>
          <a:p>
            <a:r>
              <a:rPr lang="en-US"/>
              <a:t>Handoff: These choices explain what makes the design distinctive.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Designed around the mission, from airframe to information.</a:t>
            </a:r>
          </a:p>
          <a:p>
            <a:r>
              <a:rPr lang="en-US"/>
              <a:t>Explanation: Fixed-wing geometry designed around aerial observation. Physical and information systems share one mission architecture. Information is organized for decisions, beyond raw data alone. The future direction continues this engineering focus.</a:t>
            </a:r>
          </a:p>
          <a:p>
            <a:r>
              <a:rPr lang="en-US"/>
              <a:t>Handoff: The next step belongs to our team.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Peeyush Raj</a:t>
            </a:r>
          </a:p>
          <a:p>
            <a:r>
              <a:rPr lang="en-US"/>
              <a:t>Opening: Give responders a faster view of hard-to-reach places.</a:t>
            </a:r>
          </a:p>
          <a:p>
            <a:r>
              <a:rPr lang="en-US"/>
              <a:t>Explanation: Give responders a faster view of places that are hardest to reach. Close by inviting feedback on the next engineering milestone.</a:t>
            </a:r>
          </a:p>
          <a:p>
            <a:r>
              <a:rPr lang="en-US"/>
              <a:t>Handoff: Thank you. We welcome your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01 / COVER SLIDE</a:t>
            </a:r>
          </a:p>
        </p:txBody>
      </p:sp>
      <p:sp>
        <p:nvSpPr>
          <p:cNvPr name="AutoShape 3" id="3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01 /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2950" y="1762125"/>
            <a:ext cx="822960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GARUDA</a:t>
            </a:r>
          </a:p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VEDANG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4162425"/>
            <a:ext cx="73152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3624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Aerial intelligence for disaster-response decisions.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82212" y="2137572"/>
            <a:ext cx="8724586" cy="6560506"/>
            <a:chOff x="0" y="0"/>
            <a:chExt cx="11632781" cy="87473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32819" cy="8747379"/>
            </a:xfrm>
            <a:custGeom>
              <a:avLst/>
              <a:gdLst/>
              <a:ahLst/>
              <a:cxnLst/>
              <a:rect r="r" b="b" t="t" l="l"/>
              <a:pathLst>
                <a:path h="8747379" w="11632819">
                  <a:moveTo>
                    <a:pt x="0" y="0"/>
                  </a:moveTo>
                  <a:lnTo>
                    <a:pt x="11632819" y="0"/>
                  </a:lnTo>
                  <a:lnTo>
                    <a:pt x="11632819" y="8747379"/>
                  </a:lnTo>
                  <a:lnTo>
                    <a:pt x="0" y="874737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816340" y="2171700"/>
            <a:ext cx="8656320" cy="6492240"/>
            <a:chOff x="0" y="0"/>
            <a:chExt cx="11541760" cy="8656320"/>
          </a:xfrm>
        </p:grpSpPr>
        <p:sp>
          <p:nvSpPr>
            <p:cNvPr name="Freeform 11" id="11" descr="image.jpg"/>
            <p:cNvSpPr/>
            <p:nvPr/>
          </p:nvSpPr>
          <p:spPr>
            <a:xfrm flipH="false" flipV="false" rot="0">
              <a:off x="0" y="0"/>
              <a:ext cx="11541760" cy="8656320"/>
            </a:xfrm>
            <a:custGeom>
              <a:avLst/>
              <a:gdLst/>
              <a:ahLst/>
              <a:cxnLst/>
              <a:rect r="r" b="b" t="t" l="l"/>
              <a:pathLst>
                <a:path h="8656320" w="11541760">
                  <a:moveTo>
                    <a:pt x="0" y="0"/>
                  </a:moveTo>
                  <a:lnTo>
                    <a:pt x="11541760" y="0"/>
                  </a:lnTo>
                  <a:lnTo>
                    <a:pt x="11541760" y="8656320"/>
                  </a:lnTo>
                  <a:lnTo>
                    <a:pt x="0" y="8656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42950" y="6195060"/>
            <a:ext cx="7543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TEAM VEDANG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2950" y="6755130"/>
            <a:ext cx="78295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Peeyush Raj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7189470"/>
            <a:ext cx="782955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Team Lead / Aerostructure Designer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7680960"/>
            <a:ext cx="78295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" y="8115300"/>
            <a:ext cx="782955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Lead Software / Software Engineering &amp;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8972550"/>
            <a:ext cx="1680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Theme: Aerospace &amp; Frontier Tech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02 / PROBLEM &amp; OPPORTUNITY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When roads fail, information becomes the first bottleneck.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02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5806" y="2907506"/>
            <a:ext cx="608648" cy="608648"/>
            <a:chOff x="0" y="0"/>
            <a:chExt cx="811530" cy="81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2931795"/>
            <a:ext cx="594360" cy="560070"/>
            <a:chOff x="0" y="0"/>
            <a:chExt cx="792480" cy="746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14500" y="291465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Access breaks down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4500" y="353377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Damaged terrain slows ground assessment.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35806" y="4576286"/>
            <a:ext cx="608648" cy="608648"/>
            <a:chOff x="0" y="0"/>
            <a:chExt cx="811530" cy="811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4600575"/>
            <a:ext cx="594360" cy="560070"/>
            <a:chOff x="0" y="0"/>
            <a:chExt cx="792480" cy="746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14500" y="458343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Decisions cannot wait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520255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Teams need visual context before committing people and resources.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5806" y="6245066"/>
            <a:ext cx="608648" cy="608648"/>
            <a:chOff x="0" y="0"/>
            <a:chExt cx="811530" cy="8115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42950" y="6269355"/>
            <a:ext cx="594360" cy="560070"/>
            <a:chOff x="0" y="0"/>
            <a:chExt cx="792480" cy="746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14500" y="625221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Observation opens a route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4500" y="687133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An aerial view can guide the next ground response.</a:t>
            </a:r>
          </a:p>
        </p:txBody>
      </p:sp>
      <p:sp>
        <p:nvSpPr>
          <p:cNvPr name="AutoShape 28" id="28"/>
          <p:cNvSpPr/>
          <p:nvPr/>
        </p:nvSpPr>
        <p:spPr>
          <a:xfrm rot="6420">
            <a:off x="10737847" y="2967038"/>
            <a:ext cx="6813566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744200" y="3419475"/>
            <a:ext cx="66294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Information is the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first useful handoff.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44200" y="596646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DIFFICULT ACCESS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44200" y="664083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AERIAL OBSERVATION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44200" y="731520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REVIEWED CONTEXT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03 / EXISTING SOLUTIONS &amp; GAP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The mission needs both an aerial view and a local handoff.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03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834640"/>
            <a:ext cx="3714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700" y="2834640"/>
            <a:ext cx="59436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WHAT IT OFFERS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01300" y="2834640"/>
            <a:ext cx="7143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MISSION / WORKFLOW FIT</a:t>
            </a:r>
          </a:p>
        </p:txBody>
      </p:sp>
      <p:sp>
        <p:nvSpPr>
          <p:cNvPr name="AutoShape 10" id="10"/>
          <p:cNvSpPr/>
          <p:nvPr/>
        </p:nvSpPr>
        <p:spPr>
          <a:xfrm rot="2580">
            <a:off x="736597" y="34128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42950" y="36671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Ground response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57700" y="36671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Direct intervention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1300" y="36671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Physical access limits assessment.</a:t>
            </a:r>
          </a:p>
        </p:txBody>
      </p:sp>
      <p:sp>
        <p:nvSpPr>
          <p:cNvPr name="AutoShape 14" id="14"/>
          <p:cNvSpPr/>
          <p:nvPr/>
        </p:nvSpPr>
        <p:spPr>
          <a:xfrm rot="2580">
            <a:off x="736597" y="44300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42950" y="46386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Local aerial inspection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57700" y="46386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Fast view of a nearby area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1300" y="46386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Range and endurance shape the mission.</a:t>
            </a:r>
          </a:p>
        </p:txBody>
      </p:sp>
      <p:sp>
        <p:nvSpPr>
          <p:cNvPr name="AutoShape 18" id="18"/>
          <p:cNvSpPr/>
          <p:nvPr/>
        </p:nvSpPr>
        <p:spPr>
          <a:xfrm rot="2580">
            <a:off x="736597" y="54016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42950" y="56102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Wide-area imagery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57700" y="56102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Broad geographic context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01300" y="56102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Local timing and mission flexibility vary.</a:t>
            </a:r>
          </a:p>
        </p:txBody>
      </p:sp>
      <p:sp>
        <p:nvSpPr>
          <p:cNvPr name="AutoShape 22" id="22"/>
          <p:cNvSpPr/>
          <p:nvPr/>
        </p:nvSpPr>
        <p:spPr>
          <a:xfrm rot="2580">
            <a:off x="736597" y="63731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742950" y="65817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Garuda Vedang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57700" y="65817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Fixed-wing mission platform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1300" y="65817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Aerial observation + responder handoff.</a:t>
            </a:r>
          </a:p>
        </p:txBody>
      </p:sp>
      <p:sp>
        <p:nvSpPr>
          <p:cNvPr name="AutoShape 26" id="26"/>
          <p:cNvSpPr/>
          <p:nvPr/>
        </p:nvSpPr>
        <p:spPr>
          <a:xfrm rot="2580">
            <a:off x="736597" y="73447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742950" y="8187690"/>
            <a:ext cx="166878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Our design connects the aircraft to the decision on the ground.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04 / 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From aerial search to an actionable responder handoff.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04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517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MISSION WORKFLOW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604736"/>
            <a:ext cx="620078" cy="620078"/>
            <a:chOff x="0" y="0"/>
            <a:chExt cx="826770" cy="8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629025"/>
            <a:ext cx="605790" cy="571500"/>
            <a:chOff x="0" y="0"/>
            <a:chExt cx="807720" cy="76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2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Deploy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Reach the search area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3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604736"/>
            <a:ext cx="620078" cy="620078"/>
            <a:chOff x="0" y="0"/>
            <a:chExt cx="826770" cy="826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629025"/>
            <a:ext cx="605790" cy="571500"/>
            <a:chOff x="0" y="0"/>
            <a:chExt cx="80772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171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Observe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71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Imagery + mission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32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604736"/>
            <a:ext cx="620078" cy="620078"/>
            <a:chOff x="0" y="0"/>
            <a:chExt cx="826770" cy="8267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629025"/>
            <a:ext cx="605790" cy="571500"/>
            <a:chOff x="0" y="0"/>
            <a:chExt cx="80772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600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Process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00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Organize location context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61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604736"/>
            <a:ext cx="620078" cy="620078"/>
            <a:chOff x="0" y="0"/>
            <a:chExt cx="826770" cy="8267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629025"/>
            <a:ext cx="605790" cy="571500"/>
            <a:chOff x="0" y="0"/>
            <a:chExt cx="807720" cy="76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029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Review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029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Operator checks the information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90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604736"/>
            <a:ext cx="620078" cy="620078"/>
            <a:chOff x="0" y="0"/>
            <a:chExt cx="826770" cy="826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629025"/>
            <a:ext cx="605790" cy="571500"/>
            <a:chOff x="0" y="0"/>
            <a:chExt cx="807720" cy="76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458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Respond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58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Hand off to field teams</a:t>
            </a:r>
          </a:p>
        </p:txBody>
      </p:sp>
      <p:sp>
        <p:nvSpPr>
          <p:cNvPr name="AutoShape 47" id="47"/>
          <p:cNvSpPr/>
          <p:nvPr/>
        </p:nvSpPr>
        <p:spPr>
          <a:xfrm rot="2580">
            <a:off x="736597" y="71389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742950" y="7671435"/>
            <a:ext cx="168021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Human review connects aircraft observations to field action.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05 / TECHNOLOGY &amp; INNOVATION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Aerostructure and software meet in one mission architecture.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05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5972" y="3129124"/>
            <a:ext cx="6583366" cy="4954591"/>
            <a:chOff x="0" y="0"/>
            <a:chExt cx="8777821" cy="66061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77859" cy="6606159"/>
            </a:xfrm>
            <a:custGeom>
              <a:avLst/>
              <a:gdLst/>
              <a:ahLst/>
              <a:cxnLst/>
              <a:rect r="r" b="b" t="t" l="l"/>
              <a:pathLst>
                <a:path h="6606159" w="8777859">
                  <a:moveTo>
                    <a:pt x="0" y="0"/>
                  </a:moveTo>
                  <a:lnTo>
                    <a:pt x="8777859" y="0"/>
                  </a:lnTo>
                  <a:lnTo>
                    <a:pt x="8777859" y="6606159"/>
                  </a:lnTo>
                  <a:lnTo>
                    <a:pt x="0" y="660615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00100" y="3163252"/>
            <a:ext cx="6515100" cy="4886325"/>
            <a:chOff x="0" y="0"/>
            <a:chExt cx="8686800" cy="6515100"/>
          </a:xfrm>
        </p:grpSpPr>
        <p:sp>
          <p:nvSpPr>
            <p:cNvPr name="Freeform 10" id="10" descr="image.jpg"/>
            <p:cNvSpPr/>
            <p:nvPr/>
          </p:nvSpPr>
          <p:spPr>
            <a:xfrm flipH="false" flipV="false" rot="0">
              <a:off x="0" y="0"/>
              <a:ext cx="8686800" cy="6515100"/>
            </a:xfrm>
            <a:custGeom>
              <a:avLst/>
              <a:gdLst/>
              <a:ahLst/>
              <a:cxnLst/>
              <a:rect r="r" b="b" t="t" l="l"/>
              <a:pathLst>
                <a:path h="65151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515100"/>
                  </a:lnTo>
                  <a:lnTo>
                    <a:pt x="0" y="651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01000" y="27660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01 / AEROSTRUCTURE / PEEYUSH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0" y="32118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Fixed-wing twin-boom platform with a central fuselage.</a:t>
            </a:r>
          </a:p>
        </p:txBody>
      </p:sp>
      <p:sp>
        <p:nvSpPr>
          <p:cNvPr name="AutoShape 13" id="13"/>
          <p:cNvSpPr/>
          <p:nvPr/>
        </p:nvSpPr>
        <p:spPr>
          <a:xfrm rot="4560">
            <a:off x="7994647" y="39271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001000" y="41376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02 / FLIGHT + NAVIGATION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1000" y="45834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Navigation, onboard sensing and mission-state processing.</a:t>
            </a:r>
          </a:p>
        </p:txBody>
      </p:sp>
      <p:sp>
        <p:nvSpPr>
          <p:cNvPr name="AutoShape 16" id="16"/>
          <p:cNvSpPr/>
          <p:nvPr/>
        </p:nvSpPr>
        <p:spPr>
          <a:xfrm rot="4560">
            <a:off x="7994647" y="52987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001000" y="55092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03 / SOFTWARE ARCHITECTURE / PRANAV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1000" y="59550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Imagery, telemetry and the operator information workflow.</a:t>
            </a:r>
          </a:p>
        </p:txBody>
      </p:sp>
      <p:sp>
        <p:nvSpPr>
          <p:cNvPr name="AutoShape 19" id="19"/>
          <p:cNvSpPr/>
          <p:nvPr/>
        </p:nvSpPr>
        <p:spPr>
          <a:xfrm rot="4560">
            <a:off x="7994647" y="6670357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01000" y="68808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04 / RESPONDER INTERFACE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01000" y="73266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Aircraft observations organized into usable mission context.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950" y="8814435"/>
            <a:ext cx="168021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Design focus: a physical platform and an information workflow built around the same mission.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06 / PROTOTYPE / MVP / DEMONSTRATION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We built the airframe around the mission.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06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4345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PHYSICAL PROTOTYPE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579532" y="3051972"/>
            <a:ext cx="7413946" cy="5577526"/>
            <a:chOff x="0" y="0"/>
            <a:chExt cx="9885261" cy="74367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85299" cy="7436739"/>
            </a:xfrm>
            <a:custGeom>
              <a:avLst/>
              <a:gdLst/>
              <a:ahLst/>
              <a:cxnLst/>
              <a:rect r="r" b="b" t="t" l="l"/>
              <a:pathLst>
                <a:path h="7436739" w="9885299">
                  <a:moveTo>
                    <a:pt x="0" y="0"/>
                  </a:moveTo>
                  <a:lnTo>
                    <a:pt x="9885299" y="0"/>
                  </a:lnTo>
                  <a:lnTo>
                    <a:pt x="9885299" y="7436739"/>
                  </a:lnTo>
                  <a:lnTo>
                    <a:pt x="0" y="743673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613660" y="3086100"/>
            <a:ext cx="7345680" cy="5509260"/>
            <a:chOff x="0" y="0"/>
            <a:chExt cx="9794240" cy="7345680"/>
          </a:xfrm>
        </p:grpSpPr>
        <p:sp>
          <p:nvSpPr>
            <p:cNvPr name="Freeform 11" id="11" descr="image.jpg"/>
            <p:cNvSpPr/>
            <p:nvPr/>
          </p:nvSpPr>
          <p:spPr>
            <a:xfrm flipH="false" flipV="false" rot="0">
              <a:off x="0" y="0"/>
              <a:ext cx="9794240" cy="7345680"/>
            </a:xfrm>
            <a:custGeom>
              <a:avLst/>
              <a:gdLst/>
              <a:ahLst/>
              <a:cxnLst/>
              <a:rect r="r" b="b" t="t" l="l"/>
              <a:pathLst>
                <a:path h="7345680" w="9794240">
                  <a:moveTo>
                    <a:pt x="0" y="0"/>
                  </a:moveTo>
                  <a:lnTo>
                    <a:pt x="9794240" y="0"/>
                  </a:lnTo>
                  <a:lnTo>
                    <a:pt x="9794240" y="7345680"/>
                  </a:lnTo>
                  <a:lnTo>
                    <a:pt x="0" y="734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50956" y="5364956"/>
            <a:ext cx="402908" cy="402908"/>
            <a:chOff x="0" y="0"/>
            <a:chExt cx="537210" cy="5372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658100" y="5389245"/>
            <a:ext cx="388620" cy="354330"/>
            <a:chOff x="0" y="0"/>
            <a:chExt cx="518160" cy="472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58700" y="305181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01 / MAIN WING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8700" y="345186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Fixed-wing geometry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22256" y="4679156"/>
            <a:ext cx="402908" cy="402908"/>
            <a:chOff x="0" y="0"/>
            <a:chExt cx="537210" cy="5372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629400" y="4703445"/>
            <a:ext cx="388620" cy="354330"/>
            <a:chOff x="0" y="0"/>
            <a:chExt cx="518160" cy="472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458700" y="420624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02 / TWIN-BOOM TAIL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58700" y="460629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Two-boom tail arrangement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907756" y="6736556"/>
            <a:ext cx="402908" cy="402908"/>
            <a:chOff x="0" y="0"/>
            <a:chExt cx="537210" cy="5372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914900" y="6760845"/>
            <a:ext cx="388620" cy="354330"/>
            <a:chOff x="0" y="0"/>
            <a:chExt cx="518160" cy="472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458700" y="536067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03 / CENTRAL FUSELAGE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8700" y="576072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Central aircraft body</a:t>
            </a:r>
          </a:p>
        </p:txBody>
      </p:sp>
      <p:sp>
        <p:nvSpPr>
          <p:cNvPr name="AutoShape 33" id="33"/>
          <p:cNvSpPr/>
          <p:nvPr/>
        </p:nvSpPr>
        <p:spPr>
          <a:xfrm rot="8580">
            <a:off x="12452347" y="6773228"/>
            <a:ext cx="508763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2458700" y="701802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NEXT ENGINEERING MILESTONE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58700" y="7545705"/>
            <a:ext cx="507492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Integrated flight + mission-system validation.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2950" y="9029700"/>
            <a:ext cx="168021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Fixed-wing airframe developed as the platform for the Garuda Vedang disaster-response system.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07 / TARGET USERS &amp; USE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One aircraft workflow serves three response decisions.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07 / 12</a:t>
            </a:r>
          </a:p>
        </p:txBody>
      </p:sp>
      <p:sp>
        <p:nvSpPr>
          <p:cNvPr name="AutoShape 7" id="7"/>
          <p:cNvSpPr/>
          <p:nvPr/>
        </p:nvSpPr>
        <p:spPr>
          <a:xfrm rot="8460">
            <a:off x="736597" y="3058478"/>
            <a:ext cx="5156216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429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FIELD RESPONDERS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Visual context before entering difficult terrain.</a:t>
            </a:r>
          </a:p>
        </p:txBody>
      </p:sp>
      <p:sp>
        <p:nvSpPr>
          <p:cNvPr name="AutoShape 10" id="10"/>
          <p:cNvSpPr/>
          <p:nvPr/>
        </p:nvSpPr>
        <p:spPr>
          <a:xfrm rot="8460">
            <a:off x="6508747" y="3058478"/>
            <a:ext cx="5156216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51510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DISASTER CONTROL ROOMS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510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Aerial information for search-area prioritization.</a:t>
            </a:r>
          </a:p>
        </p:txBody>
      </p:sp>
      <p:sp>
        <p:nvSpPr>
          <p:cNvPr name="AutoShape 13" id="13"/>
          <p:cNvSpPr/>
          <p:nvPr/>
        </p:nvSpPr>
        <p:spPr>
          <a:xfrm rot="8460">
            <a:off x="12280897" y="3058478"/>
            <a:ext cx="5156216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2872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RELIEF / MEDICAL TEAMS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72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Location context for dispatch and aid planning.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" y="69951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ONE USE-CASE JOURNEY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DISASTER AREA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8627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4347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GARUDA OBSERVATION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86800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REVIEWED LOCATIONS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8732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4452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GROUND RESPONSE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7680">
            <a:off x="11766547" y="3321367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680">
            <a:off x="11766547" y="411003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680">
            <a:off x="11766547" y="489870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7680">
            <a:off x="11766547" y="568737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35806" y="8188166"/>
            <a:ext cx="722948" cy="722948"/>
            <a:chOff x="0" y="0"/>
            <a:chExt cx="963930" cy="9639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8212455"/>
            <a:ext cx="708660" cy="674370"/>
            <a:chOff x="0" y="0"/>
            <a:chExt cx="944880" cy="899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08306" y="8188166"/>
            <a:ext cx="722948" cy="722948"/>
            <a:chOff x="0" y="0"/>
            <a:chExt cx="963930" cy="963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315450" y="8212455"/>
            <a:ext cx="708660" cy="674370"/>
            <a:chOff x="0" y="0"/>
            <a:chExt cx="944880" cy="899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24251" y="8033385"/>
            <a:ext cx="946059" cy="941328"/>
          </a:xfrm>
          <a:custGeom>
            <a:avLst/>
            <a:gdLst/>
            <a:ahLst/>
            <a:cxnLst/>
            <a:rect r="r" b="b" t="t" l="l"/>
            <a:pathLst>
              <a:path h="941328" w="946059">
                <a:moveTo>
                  <a:pt x="0" y="0"/>
                </a:moveTo>
                <a:lnTo>
                  <a:pt x="946058" y="0"/>
                </a:lnTo>
                <a:lnTo>
                  <a:pt x="946058" y="941328"/>
                </a:lnTo>
                <a:lnTo>
                  <a:pt x="0" y="94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62850" y="8119889"/>
            <a:ext cx="883937" cy="879517"/>
          </a:xfrm>
          <a:custGeom>
            <a:avLst/>
            <a:gdLst/>
            <a:ahLst/>
            <a:cxnLst/>
            <a:rect r="r" b="b" t="t" l="l"/>
            <a:pathLst>
              <a:path h="879517" w="883937">
                <a:moveTo>
                  <a:pt x="0" y="0"/>
                </a:moveTo>
                <a:lnTo>
                  <a:pt x="883937" y="0"/>
                </a:lnTo>
                <a:lnTo>
                  <a:pt x="883937" y="879517"/>
                </a:lnTo>
                <a:lnTo>
                  <a:pt x="0" y="8795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08 / IMPACT &amp; OUTCOMES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Earlier context. More focused search. A clearer handoff.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08 / 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950" y="2708910"/>
            <a:ext cx="9715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2900" y="2708910"/>
            <a:ext cx="5715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VALIDATION METRICS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2950" y="338328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Earlier visual context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395478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Reconnaissance before difficult ground access.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2950" y="474345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More focused search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2950" y="531495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Reviewed imagery supports location prioritization.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2950" y="610362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Better information handoff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950" y="667512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Mission data organized for human decisions.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2900" y="353377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Flight stability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72900" y="432244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Location accuracy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72900" y="511111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Mission coverage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72900" y="589978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Information handoff time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59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SDG 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259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Industry, Innovation &amp; Infrastructure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984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SDG 11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984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Sustainable Cities &amp; Communities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09 / BUSINESS MODEL &amp;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Integrate the aircraft, then take the mission into the field.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09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97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PATH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456146"/>
            <a:ext cx="642938" cy="642938"/>
            <a:chOff x="0" y="0"/>
            <a:chExt cx="857250" cy="857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480435"/>
            <a:ext cx="628650" cy="594360"/>
            <a:chOff x="0" y="0"/>
            <a:chExt cx="838200" cy="792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19020">
            <a:off x="1593828" y="3778567"/>
            <a:ext cx="2298735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42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Airframe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Validation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456146"/>
            <a:ext cx="642938" cy="642938"/>
            <a:chOff x="0" y="0"/>
            <a:chExt cx="857250" cy="857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480435"/>
            <a:ext cx="628650" cy="594360"/>
            <a:chOff x="0" y="0"/>
            <a:chExt cx="838200" cy="792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9020">
            <a:off x="5022828" y="3778567"/>
            <a:ext cx="2298735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171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Flight + control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71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Integration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456146"/>
            <a:ext cx="642938" cy="642938"/>
            <a:chOff x="0" y="0"/>
            <a:chExt cx="85725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480435"/>
            <a:ext cx="628650" cy="594360"/>
            <a:chOff x="0" y="0"/>
            <a:chExt cx="838200" cy="79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9020">
            <a:off x="8451828" y="3778567"/>
            <a:ext cx="2298735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600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Mission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00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Integration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456146"/>
            <a:ext cx="642938" cy="642938"/>
            <a:chOff x="0" y="0"/>
            <a:chExt cx="857250" cy="85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480435"/>
            <a:ext cx="628650" cy="594360"/>
            <a:chOff x="0" y="0"/>
            <a:chExt cx="838200" cy="792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19020">
            <a:off x="11880828" y="3778567"/>
            <a:ext cx="2298735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1029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Controlled field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29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Trial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456146"/>
            <a:ext cx="642938" cy="642938"/>
            <a:chOff x="0" y="0"/>
            <a:chExt cx="85725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4A637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480435"/>
            <a:ext cx="628650" cy="594360"/>
            <a:chOff x="0" y="0"/>
            <a:chExt cx="838200" cy="79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4A63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19020">
            <a:off x="15309828" y="3778567"/>
            <a:ext cx="2298735" cy="0"/>
          </a:xfrm>
          <a:prstGeom prst="line">
            <a:avLst/>
          </a:prstGeom>
          <a:ln cap="rnd" w="9525">
            <a:solidFill>
              <a:srgbClr val="4A63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4458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Disaster response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58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Pilot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2950" y="698373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DEPLOYMENT MODEL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295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AIRCRAFT SYSTEM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8627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94347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OPERATOR SOFTWARE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86800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TRAINING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88732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34452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MAINTENANCE + SUPPORT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42950" y="8536305"/>
            <a:ext cx="168021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Institutional deployment brings the aircraft, software and operating support together.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10 / FEASIBILITY &amp; SCALABILITY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Control the aircraft. Protect the information. Scale carefully.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10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1747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ENGINEERING VALIDATION PRIORITIES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143250"/>
            <a:ext cx="168021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Mass &amp; balance  ·  Flight stability  ·  Navigation  ·  Communications  ·  Information accuracy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091940"/>
            <a:ext cx="4343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6350" y="4091940"/>
            <a:ext cx="537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0" y="4091940"/>
            <a:ext cx="6972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ENGINEERING RESPONSE</a:t>
            </a:r>
          </a:p>
        </p:txBody>
      </p:sp>
      <p:sp>
        <p:nvSpPr>
          <p:cNvPr name="AutoShape 12" id="12"/>
          <p:cNvSpPr/>
          <p:nvPr/>
        </p:nvSpPr>
        <p:spPr>
          <a:xfrm rot="2580">
            <a:off x="736597" y="45672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42950" y="482346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Flight stability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6350" y="482346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Loss of controllability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5600" y="482346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CG checks + controlled flight envelope</a:t>
            </a:r>
          </a:p>
        </p:txBody>
      </p:sp>
      <p:sp>
        <p:nvSpPr>
          <p:cNvPr name="AutoShape 16" id="16"/>
          <p:cNvSpPr/>
          <p:nvPr/>
        </p:nvSpPr>
        <p:spPr>
          <a:xfrm rot="2580">
            <a:off x="736597" y="5447347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42950" y="564642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Communication loss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86350" y="564642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Mission-data interruption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5600" y="564642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Failsafe design + manual override</a:t>
            </a:r>
          </a:p>
        </p:txBody>
      </p:sp>
      <p:sp>
        <p:nvSpPr>
          <p:cNvPr name="AutoShape 20" id="20"/>
          <p:cNvSpPr/>
          <p:nvPr/>
        </p:nvSpPr>
        <p:spPr>
          <a:xfrm rot="2580">
            <a:off x="736597" y="62703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42950" y="646938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False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86350" y="646938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Poor responder information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15600" y="646938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Human review + image-backed context</a:t>
            </a:r>
          </a:p>
        </p:txBody>
      </p:sp>
      <p:sp>
        <p:nvSpPr>
          <p:cNvPr name="AutoShape 24" id="24"/>
          <p:cNvSpPr/>
          <p:nvPr/>
        </p:nvSpPr>
        <p:spPr>
          <a:xfrm rot="2580">
            <a:off x="736597" y="709326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742950" y="786384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SCALABILITY PATH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ONE AIRCRAFT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627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4347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VALIDATED MISSION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86800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FIELD PILOT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8732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4452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MULTI-AIRCRAFT OPERATIONS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11 / COMPETITIVE ADVANTAGE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Designed around the mission, from airframe to information.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11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3122295"/>
            <a:ext cx="6858000" cy="355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The aircraft is one part.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The handoff completes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the mission.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1000" y="308610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72550" y="308610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Mission-first airframe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72550" y="373570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Fixed-wing geometry designed around aerial observation.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0" y="475488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2550" y="475488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Aerostructure + software co-design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2550" y="540448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Physical and information systems share one mission architecture.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1000" y="642366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2550" y="642366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Human-reviewed response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2550" y="707326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Information is organized for decisions, beyond raw data alone.</a:t>
            </a:r>
          </a:p>
        </p:txBody>
      </p:sp>
      <p:sp>
        <p:nvSpPr>
          <p:cNvPr name="AutoShape 17" id="17"/>
          <p:cNvSpPr/>
          <p:nvPr/>
        </p:nvSpPr>
        <p:spPr>
          <a:xfrm rot="2580">
            <a:off x="736597" y="81105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42950" y="8412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FUTURE DIRECTION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2950" y="8894445"/>
            <a:ext cx="168021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Flight validation → mission integration → field trials → expanded autonomy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12 / TEAM &amp; VISION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Give responders a faster view of hard-to-reach places.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GARUDA VEDANG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12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63190"/>
            <a:ext cx="8115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THE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383280"/>
            <a:ext cx="8001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Peeyush Raj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3956685"/>
            <a:ext cx="800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Team Lead / Aerostructure Designer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950" y="4573905"/>
            <a:ext cx="8001000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Airframe architecture, structural configuration and physical platform development.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950" y="5497830"/>
            <a:ext cx="8001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950" y="6071235"/>
            <a:ext cx="800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4A637B"/>
                </a:solidFill>
                <a:latin typeface="Aptos"/>
                <a:ea typeface="Aptos"/>
                <a:cs typeface="Aptos"/>
                <a:sym typeface="Aptos"/>
              </a:rPr>
              <a:t>Lead Software / Software Engineering &amp;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2950" y="6688455"/>
            <a:ext cx="8001000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Software architecture, mission information workflow, computing and system integration.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900" y="2663190"/>
            <a:ext cx="8001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WHERE WE TAKE THIS NEXT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6900" y="340614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78440" y="340614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Complete integrated aircraft validation.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6900" y="422910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8440" y="422910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Connect sensing and mission software.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86900" y="505206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78440" y="505206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Run controlled search-and-response trials.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86900" y="587502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78440" y="587502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Move into disaster-response evaluation.</a:t>
            </a:r>
          </a:p>
        </p:txBody>
      </p:sp>
      <p:sp>
        <p:nvSpPr>
          <p:cNvPr name="AutoShape 23" id="23"/>
          <p:cNvSpPr/>
          <p:nvPr/>
        </p:nvSpPr>
        <p:spPr>
          <a:xfrm rot="2580">
            <a:off x="736597" y="79390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742950" y="8263890"/>
            <a:ext cx="168021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249">
                <a:solidFill>
                  <a:srgbClr val="4A637B"/>
                </a:solidFill>
                <a:latin typeface="Georgia"/>
                <a:ea typeface="Georgia"/>
                <a:cs typeface="Georgia"/>
                <a:sym typeface="Georgia"/>
              </a:rPr>
              <a:t>Give responders a faster view of places that are hardest to reach.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2950" y="91782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A637B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DAHUtgjN9LI</dc:identifier>
  <dcterms:modified xsi:type="dcterms:W3CDTF">2011-08-01T06:04:30Z</dcterms:modified>
  <cp:revision>1</cp:revision>
  <dc:title>Garuda_Vedang_FINAL.pptx</dc:title>
</cp:coreProperties>
</file>