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22"/>
    </p:embeddedFont>
    <p:embeddedFont>
      <p:font typeface="Aptos" charset="1" panose="020B0004020202020204"/>
      <p:regular r:id="rId23"/>
    </p:embeddedFont>
    <p:embeddedFont>
      <p:font typeface="Georgia" charset="1" panose="020405020504050203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Patient-specific simulation. Clearer clinical review.</a:t>
            </a:r>
          </a:p>
          <a:p>
            <a:r>
              <a:rPr lang="en-US"/>
              <a:t>Explanation: Patient-specific simulation. Clearer clinical review. Make patient-specific simulations easier to understand, one validated use case at a time.</a:t>
            </a:r>
          </a:p>
          <a:p>
            <a:r>
              <a:rPr lang="en-US"/>
              <a:t>Handoff: Start with the situation that led to the project.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The same medicine can require a different conversation.</a:t>
            </a:r>
          </a:p>
          <a:p>
            <a:r>
              <a:rPr lang="en-US"/>
              <a:t>Explanation: Labs, medicines and patient characteristics shape the review. A clinician must connect patient context with model output. Exposure scenarios and uncertainty should be reviewed together. Bring the patient context beside the model.</a:t>
            </a:r>
          </a:p>
          <a:p>
            <a:r>
              <a:rPr lang="en-US"/>
              <a:t>Handoff: That gives us the gap to address.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The same medicine can require a different conversation.</a:t>
            </a:r>
          </a:p>
          <a:p>
            <a:r>
              <a:rPr lang="en-US"/>
              <a:t>Explanation: Labs, medicines and patient characteristics shape the review. A clinician must connect patient context with model output. Exposure scenarios and uncertainty should be reviewed together. Bring the patient context beside the model.</a:t>
            </a:r>
          </a:p>
          <a:p>
            <a:r>
              <a:rPr lang="en-US"/>
              <a:t>Handoff: That gives us the gap to address.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Precision dosing begins with a strong clinical baseline.</a:t>
            </a:r>
          </a:p>
          <a:p>
            <a:r>
              <a:rPr lang="en-US"/>
              <a:t>Explanation: Our design makes the simulation easier to inspect within a clinician-led workflow. The comparison is about the role each approach plays in the workflow.</a:t>
            </a:r>
          </a:p>
          <a:p>
            <a:r>
              <a:rPr lang="en-US"/>
              <a:t>Handoff: Here is how the system connects those needs.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Bring patient context into one reviewable simulation.</a:t>
            </a:r>
          </a:p>
          <a:p>
            <a:r>
              <a:rPr lang="en-US"/>
              <a:t>Explanation: New measured levels feed the next model update and review. Follow the diagram from input to the person who makes the decision.</a:t>
            </a:r>
          </a:p>
          <a:p>
            <a:r>
              <a:rPr lang="en-US"/>
              <a:t>Handoff: Now look inside the architecture.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The model simulates. The clinician decides.</a:t>
            </a:r>
          </a:p>
          <a:p>
            <a:r>
              <a:rPr lang="en-US"/>
              <a:t>Explanation: Architecture principle: explanations support the simulation; they do not choose the dose. Each layer has a distinct responsibility within the system design.</a:t>
            </a:r>
          </a:p>
          <a:p>
            <a:r>
              <a:rPr lang="en-US"/>
              <a:t>Handoff: Next, look at the prototype and demonstration.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A simulation workbench puts the patient beside the curve.</a:t>
            </a:r>
          </a:p>
          <a:p>
            <a:r>
              <a:rPr lang="en-US"/>
              <a:t>Explanation: Patient context, concentration trajectories and scenario controls in one interface. Point to the numbered elements, then explain the next engineering milestone: Reproduce one model evaluation with specialist feedback.</a:t>
            </a:r>
          </a:p>
          <a:p>
            <a:r>
              <a:rPr lang="en-US"/>
              <a:t>Handoff: Return to the person using the system.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Start with the people who review complex dosing decisions.</a:t>
            </a:r>
          </a:p>
          <a:p>
            <a:r>
              <a:rPr lang="en-US"/>
              <a:t>Explanation: Use the journey beneath the three user groups to show how information becomes an action.</a:t>
            </a:r>
          </a:p>
          <a:p>
            <a:r>
              <a:rPr lang="en-US"/>
              <a:t>Handoff: That leads to the outcomes we want to measure.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Make uncertainty visible and review quality measurable.</a:t>
            </a:r>
          </a:p>
          <a:p>
            <a:r>
              <a:rPr lang="en-US"/>
              <a:t>Explanation: These are expected benefits. The validation plan measures prediction error, interval calibration, safety-gate behavior, clinical review time. Each metric answers a different engineering question.</a:t>
            </a:r>
          </a:p>
          <a:p>
            <a:r>
              <a:rPr lang="en-US"/>
              <a:t>Handoff: Those measurements shape the deployment path.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Begin with one use case, then expand through validation.</a:t>
            </a:r>
          </a:p>
          <a:p>
            <a:r>
              <a:rPr lang="en-US"/>
              <a:t>Explanation: A hospital-centered model pairs local deployment with implementation and continuing support. Each stage prepares the system for the next level of use.</a:t>
            </a:r>
          </a:p>
          <a:p>
            <a:r>
              <a:rPr lang="en-US"/>
              <a:t>Handoff: The next question is what can fail and how we respond.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A reusable platform needs careful clinical boundaries.</a:t>
            </a:r>
          </a:p>
          <a:p>
            <a:r>
              <a:rPr lang="en-US"/>
              <a:t>Explanation: The risk table links a concrete failure to an engineering response. Follow the scale path only as each stage meets its validation priorities.</a:t>
            </a:r>
          </a:p>
          <a:p>
            <a:r>
              <a:rPr lang="en-US"/>
              <a:t>Handoff: These choices explain what makes the design distinctive.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A clearer decision starts with an inspectable simulation.</a:t>
            </a:r>
          </a:p>
          <a:p>
            <a:r>
              <a:rPr lang="en-US"/>
              <a:t>Explanation: The workbench places patient context beside the exposure curve. A scenario includes a range, not just a single estimate. Simulation and explanation support a human decision. The future direction continues this engineering focus.</a:t>
            </a:r>
          </a:p>
          <a:p>
            <a:r>
              <a:rPr lang="en-US"/>
              <a:t>Handoff: The next step belongs to our team.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Start with one medicine. Prove it carefully.</a:t>
            </a:r>
          </a:p>
          <a:p>
            <a:r>
              <a:rPr lang="en-US"/>
              <a:t>Explanation: Make patient-specific simulations easier to understand, one validated use case at a time. Close by inviting feedback on the next engineering milestone.</a:t>
            </a:r>
          </a:p>
          <a:p>
            <a:r>
              <a:rPr lang="en-US"/>
              <a:t>Handoff: Thank you. We welcome your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01 / COVER SLIDE</a:t>
            </a:r>
          </a:p>
        </p:txBody>
      </p:sp>
      <p:sp>
        <p:nvSpPr>
          <p:cNvPr name="AutoShape 3" id="3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01 / 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2950" y="1771650"/>
            <a:ext cx="822960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PRIVAVEDA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4162425"/>
            <a:ext cx="73152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3624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Patient-specific simulation.</a:t>
            </a:r>
          </a:p>
          <a:p>
            <a:pPr algn="l">
              <a:lnSpc>
                <a:spcPts val="4349"/>
              </a:lnSpc>
            </a:pPr>
            <a:r>
              <a:rPr lang="en-US" sz="3624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Clearer clinical review.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54349" y="2537622"/>
            <a:ext cx="9123112" cy="4731706"/>
            <a:chOff x="0" y="0"/>
            <a:chExt cx="12164149" cy="63089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64187" cy="6308979"/>
            </a:xfrm>
            <a:custGeom>
              <a:avLst/>
              <a:gdLst/>
              <a:ahLst/>
              <a:cxnLst/>
              <a:rect r="r" b="b" t="t" l="l"/>
              <a:pathLst>
                <a:path h="6308979" w="12164187">
                  <a:moveTo>
                    <a:pt x="0" y="0"/>
                  </a:moveTo>
                  <a:lnTo>
                    <a:pt x="12164187" y="0"/>
                  </a:lnTo>
                  <a:lnTo>
                    <a:pt x="12164187" y="6308979"/>
                  </a:lnTo>
                  <a:lnTo>
                    <a:pt x="0" y="6308979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388477" y="2571750"/>
            <a:ext cx="9054846" cy="4663440"/>
            <a:chOff x="0" y="0"/>
            <a:chExt cx="12073128" cy="6217920"/>
          </a:xfrm>
        </p:grpSpPr>
        <p:sp>
          <p:nvSpPr>
            <p:cNvPr name="Freeform 11" id="11" descr="image.jpg"/>
            <p:cNvSpPr/>
            <p:nvPr/>
          </p:nvSpPr>
          <p:spPr>
            <a:xfrm flipH="false" flipV="false" rot="0">
              <a:off x="0" y="0"/>
              <a:ext cx="12073128" cy="6217920"/>
            </a:xfrm>
            <a:custGeom>
              <a:avLst/>
              <a:gdLst/>
              <a:ahLst/>
              <a:cxnLst/>
              <a:rect r="r" b="b" t="t" l="l"/>
              <a:pathLst>
                <a:path h="6217920" w="12073128">
                  <a:moveTo>
                    <a:pt x="0" y="0"/>
                  </a:moveTo>
                  <a:lnTo>
                    <a:pt x="12073128" y="0"/>
                  </a:lnTo>
                  <a:lnTo>
                    <a:pt x="12073128" y="6217920"/>
                  </a:lnTo>
                  <a:lnTo>
                    <a:pt x="0" y="621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42950" y="6195060"/>
            <a:ext cx="7543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TEAM PRIVAVEDA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2950" y="6755130"/>
            <a:ext cx="78295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Pranav Kumar Mishra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950" y="7189470"/>
            <a:ext cx="782955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Team Lead / Project Lead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8972550"/>
            <a:ext cx="16802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Theme: Healthcare &amp; HealthTech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02 / PROBLEM &amp; OPPORTUNITY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The same medicine can require a different conversation.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02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5806" y="2907506"/>
            <a:ext cx="608648" cy="608648"/>
            <a:chOff x="0" y="0"/>
            <a:chExt cx="811530" cy="81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950" y="2931795"/>
            <a:ext cx="594360" cy="560070"/>
            <a:chOff x="0" y="0"/>
            <a:chExt cx="792480" cy="746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14500" y="291465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Context changes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4500" y="353377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Labs, medicines and patient characteristics shape the review.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35806" y="4576286"/>
            <a:ext cx="608648" cy="608648"/>
            <a:chOff x="0" y="0"/>
            <a:chExt cx="811530" cy="811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4600575"/>
            <a:ext cx="594360" cy="560070"/>
            <a:chOff x="0" y="0"/>
            <a:chExt cx="792480" cy="746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14500" y="458343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Information is fragmented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500" y="520255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clinician must connect patient context with model output.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5806" y="6245066"/>
            <a:ext cx="608648" cy="608648"/>
            <a:chOff x="0" y="0"/>
            <a:chExt cx="811530" cy="8115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42950" y="6269355"/>
            <a:ext cx="594360" cy="560070"/>
            <a:chOff x="0" y="0"/>
            <a:chExt cx="792480" cy="746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14500" y="625221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The decision needs clarity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14500" y="687133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Exposure scenarios and uncertainty should be reviewed together.</a:t>
            </a:r>
          </a:p>
        </p:txBody>
      </p:sp>
      <p:sp>
        <p:nvSpPr>
          <p:cNvPr name="AutoShape 28" id="28"/>
          <p:cNvSpPr/>
          <p:nvPr/>
        </p:nvSpPr>
        <p:spPr>
          <a:xfrm rot="6420">
            <a:off x="10737847" y="2967038"/>
            <a:ext cx="6813566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744200" y="3419475"/>
            <a:ext cx="66294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26E70"/>
                </a:solidFill>
                <a:latin typeface="Georgia"/>
                <a:ea typeface="Georgia"/>
                <a:cs typeface="Georgia"/>
                <a:sym typeface="Georgia"/>
              </a:rPr>
              <a:t>Bring the patient context beside the model.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44200" y="596646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PATIENT CONTEXT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44200" y="664083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SIMULATED EXPOSURE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44200" y="731520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CLINICIAN REVIEW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83141" cy="10289734"/>
          </a:xfrm>
          <a:custGeom>
            <a:avLst/>
            <a:gdLst/>
            <a:ahLst/>
            <a:cxnLst/>
            <a:rect r="r" b="b" t="t" l="l"/>
            <a:pathLst>
              <a:path h="10289734" w="18283141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03 / EXISTING SOLUTIONS &amp; GAP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Precision dosing begins with a strong clinical baseline.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03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834640"/>
            <a:ext cx="3714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700" y="2834640"/>
            <a:ext cx="59436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WHAT IT OFFERS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01300" y="2834640"/>
            <a:ext cx="7143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MISSION / WORKFLOW FIT</a:t>
            </a:r>
          </a:p>
        </p:txBody>
      </p:sp>
      <p:sp>
        <p:nvSpPr>
          <p:cNvPr name="AutoShape 10" id="10"/>
          <p:cNvSpPr/>
          <p:nvPr/>
        </p:nvSpPr>
        <p:spPr>
          <a:xfrm rot="2580">
            <a:off x="736597" y="341280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42950" y="366712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Guidelines + monitoring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57700" y="366712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Clinical standards and observed levels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1300" y="366712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Combine the results with individual context.</a:t>
            </a:r>
          </a:p>
        </p:txBody>
      </p:sp>
      <p:sp>
        <p:nvSpPr>
          <p:cNvPr name="AutoShape 14" id="14"/>
          <p:cNvSpPr/>
          <p:nvPr/>
        </p:nvSpPr>
        <p:spPr>
          <a:xfrm rot="2580">
            <a:off x="736597" y="443007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42950" y="463867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Bayesian dosing tools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57700" y="463867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Patient-specific estimates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1300" y="463867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Model selection and workflow fit matter.</a:t>
            </a:r>
          </a:p>
        </p:txBody>
      </p:sp>
      <p:sp>
        <p:nvSpPr>
          <p:cNvPr name="AutoShape 18" id="18"/>
          <p:cNvSpPr/>
          <p:nvPr/>
        </p:nvSpPr>
        <p:spPr>
          <a:xfrm rot="2580">
            <a:off x="736597" y="540162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742950" y="561022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Specialist modeling tools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57700" y="561022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Detailed pharmacology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01300" y="561022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Translate model output into clinical review.</a:t>
            </a:r>
          </a:p>
        </p:txBody>
      </p:sp>
      <p:sp>
        <p:nvSpPr>
          <p:cNvPr name="AutoShape 22" id="22"/>
          <p:cNvSpPr/>
          <p:nvPr/>
        </p:nvSpPr>
        <p:spPr>
          <a:xfrm rot="2580">
            <a:off x="736597" y="637317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742950" y="658177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Privaveda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57700" y="658177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Local simulation workflow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1300" y="658177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Patient context + uncertainty + review.</a:t>
            </a:r>
          </a:p>
        </p:txBody>
      </p:sp>
      <p:sp>
        <p:nvSpPr>
          <p:cNvPr name="AutoShape 26" id="26"/>
          <p:cNvSpPr/>
          <p:nvPr/>
        </p:nvSpPr>
        <p:spPr>
          <a:xfrm rot="2580">
            <a:off x="736597" y="734472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742950" y="8187690"/>
            <a:ext cx="166878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326E70"/>
                </a:solidFill>
                <a:latin typeface="Georgia"/>
                <a:ea typeface="Georgia"/>
                <a:cs typeface="Georgia"/>
                <a:sym typeface="Georgia"/>
              </a:rPr>
              <a:t>Our design makes the simulation easier to inspect within a clinician-led workflow.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04 / 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Bring patient context into one reviewable simulation.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04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517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CLINICIAN-LED WORKFLOW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604736"/>
            <a:ext cx="620078" cy="620078"/>
            <a:chOff x="0" y="0"/>
            <a:chExt cx="826770" cy="826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629025"/>
            <a:ext cx="605790" cy="571500"/>
            <a:chOff x="0" y="0"/>
            <a:chExt cx="807720" cy="76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2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Context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Labs + medicines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3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64806" y="3604736"/>
            <a:ext cx="620078" cy="620078"/>
            <a:chOff x="0" y="0"/>
            <a:chExt cx="826770" cy="826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71950" y="3629025"/>
            <a:ext cx="605790" cy="571500"/>
            <a:chOff x="0" y="0"/>
            <a:chExt cx="80772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171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71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Patient-specific inputs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32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93806" y="3604736"/>
            <a:ext cx="620078" cy="620078"/>
            <a:chOff x="0" y="0"/>
            <a:chExt cx="826770" cy="8267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00950" y="3629025"/>
            <a:ext cx="605790" cy="571500"/>
            <a:chOff x="0" y="0"/>
            <a:chExt cx="80772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600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Simulate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00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Exposure + uncertainty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61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2806" y="3604736"/>
            <a:ext cx="620078" cy="620078"/>
            <a:chOff x="0" y="0"/>
            <a:chExt cx="826770" cy="8267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029950" y="3629025"/>
            <a:ext cx="605790" cy="571500"/>
            <a:chOff x="0" y="0"/>
            <a:chExt cx="807720" cy="762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029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Check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029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Input and safety rules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990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51806" y="3604736"/>
            <a:ext cx="620078" cy="620078"/>
            <a:chOff x="0" y="0"/>
            <a:chExt cx="826770" cy="8267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8950" y="3629025"/>
            <a:ext cx="605790" cy="571500"/>
            <a:chOff x="0" y="0"/>
            <a:chExt cx="807720" cy="76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458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Review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58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Clinician judgment</a:t>
            </a:r>
          </a:p>
        </p:txBody>
      </p:sp>
      <p:sp>
        <p:nvSpPr>
          <p:cNvPr name="AutoShape 47" id="47"/>
          <p:cNvSpPr/>
          <p:nvPr/>
        </p:nvSpPr>
        <p:spPr>
          <a:xfrm rot="2580">
            <a:off x="736597" y="71389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742950" y="7671435"/>
            <a:ext cx="168021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326E70"/>
                </a:solidFill>
                <a:latin typeface="Georgia"/>
                <a:ea typeface="Georgia"/>
                <a:cs typeface="Georgia"/>
                <a:sym typeface="Georgia"/>
              </a:rPr>
              <a:t>New measured levels feed the next model update and review.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05 / TECHNOLOGY &amp; INNOVATION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The model simulates. The clinician decides.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05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5972" y="3894572"/>
            <a:ext cx="6583366" cy="3423676"/>
            <a:chOff x="0" y="0"/>
            <a:chExt cx="8777821" cy="45649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77859" cy="4564888"/>
            </a:xfrm>
            <a:custGeom>
              <a:avLst/>
              <a:gdLst/>
              <a:ahLst/>
              <a:cxnLst/>
              <a:rect r="r" b="b" t="t" l="l"/>
              <a:pathLst>
                <a:path h="4564888" w="8777859">
                  <a:moveTo>
                    <a:pt x="0" y="0"/>
                  </a:moveTo>
                  <a:lnTo>
                    <a:pt x="8777859" y="0"/>
                  </a:lnTo>
                  <a:lnTo>
                    <a:pt x="8777859" y="4564888"/>
                  </a:lnTo>
                  <a:lnTo>
                    <a:pt x="0" y="4564888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00100" y="3928710"/>
            <a:ext cx="6515100" cy="3355419"/>
            <a:chOff x="0" y="0"/>
            <a:chExt cx="8686800" cy="4473892"/>
          </a:xfrm>
        </p:grpSpPr>
        <p:sp>
          <p:nvSpPr>
            <p:cNvPr name="Freeform 10" id="10" descr="image.jpg"/>
            <p:cNvSpPr/>
            <p:nvPr/>
          </p:nvSpPr>
          <p:spPr>
            <a:xfrm flipH="false" flipV="false" rot="0">
              <a:off x="0" y="0"/>
              <a:ext cx="8686800" cy="4473829"/>
            </a:xfrm>
            <a:custGeom>
              <a:avLst/>
              <a:gdLst/>
              <a:ahLst/>
              <a:cxnLst/>
              <a:rect r="r" b="b" t="t" l="l"/>
              <a:pathLst>
                <a:path h="4473829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4473829"/>
                  </a:lnTo>
                  <a:lnTo>
                    <a:pt x="0" y="4473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01000" y="27660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01 / PATIENT CONTEXT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0" y="32118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Labs, medicines and measured levels inform the simulation.</a:t>
            </a:r>
          </a:p>
        </p:txBody>
      </p:sp>
      <p:sp>
        <p:nvSpPr>
          <p:cNvPr name="AutoShape 13" id="13"/>
          <p:cNvSpPr/>
          <p:nvPr/>
        </p:nvSpPr>
        <p:spPr>
          <a:xfrm rot="4560">
            <a:off x="7994647" y="3927158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001000" y="41376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02 / PK MODEL + BAYESIAN UPDATE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1000" y="45834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Estimate exposure and represent uncertainty.</a:t>
            </a:r>
          </a:p>
        </p:txBody>
      </p:sp>
      <p:sp>
        <p:nvSpPr>
          <p:cNvPr name="AutoShape 16" id="16"/>
          <p:cNvSpPr/>
          <p:nvPr/>
        </p:nvSpPr>
        <p:spPr>
          <a:xfrm rot="4560">
            <a:off x="7994647" y="5298758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8001000" y="55092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03 / EVIDENCE GATE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01000" y="59550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Input-quality checks and abstention rules constrain the output.</a:t>
            </a:r>
          </a:p>
        </p:txBody>
      </p:sp>
      <p:sp>
        <p:nvSpPr>
          <p:cNvPr name="AutoShape 19" id="19"/>
          <p:cNvSpPr/>
          <p:nvPr/>
        </p:nvSpPr>
        <p:spPr>
          <a:xfrm rot="4560">
            <a:off x="7994647" y="6670357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01000" y="68808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04 / LOCAL REVIEW + AUDIT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01000" y="73266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Clinician-facing scenarios, explanations and a decision record.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2950" y="8814435"/>
            <a:ext cx="168021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Architecture principle: explanations support the simulation; they do not choose the dose.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06 / PROTOTYPE / MVP / DEMONSTRATION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 simulation workbench puts the patient beside the curve.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06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43459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SYNTHETIC DEMO WORKBENCH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03799" y="3051972"/>
            <a:ext cx="10765412" cy="5577526"/>
            <a:chOff x="0" y="0"/>
            <a:chExt cx="14353883" cy="74367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53921" cy="7436739"/>
            </a:xfrm>
            <a:custGeom>
              <a:avLst/>
              <a:gdLst/>
              <a:ahLst/>
              <a:cxnLst/>
              <a:rect r="r" b="b" t="t" l="l"/>
              <a:pathLst>
                <a:path h="7436739" w="14353921">
                  <a:moveTo>
                    <a:pt x="0" y="0"/>
                  </a:moveTo>
                  <a:lnTo>
                    <a:pt x="14353921" y="0"/>
                  </a:lnTo>
                  <a:lnTo>
                    <a:pt x="14353921" y="7436739"/>
                  </a:lnTo>
                  <a:lnTo>
                    <a:pt x="0" y="7436739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37927" y="3086100"/>
            <a:ext cx="10697146" cy="5509260"/>
            <a:chOff x="0" y="0"/>
            <a:chExt cx="14262862" cy="7345680"/>
          </a:xfrm>
        </p:grpSpPr>
        <p:sp>
          <p:nvSpPr>
            <p:cNvPr name="Freeform 11" id="11" descr="image.jpg"/>
            <p:cNvSpPr/>
            <p:nvPr/>
          </p:nvSpPr>
          <p:spPr>
            <a:xfrm flipH="false" flipV="false" rot="0">
              <a:off x="0" y="0"/>
              <a:ext cx="14262863" cy="7345680"/>
            </a:xfrm>
            <a:custGeom>
              <a:avLst/>
              <a:gdLst/>
              <a:ahLst/>
              <a:cxnLst/>
              <a:rect r="r" b="b" t="t" l="l"/>
              <a:pathLst>
                <a:path h="7345680" w="14262863">
                  <a:moveTo>
                    <a:pt x="0" y="0"/>
                  </a:moveTo>
                  <a:lnTo>
                    <a:pt x="14262863" y="0"/>
                  </a:lnTo>
                  <a:lnTo>
                    <a:pt x="14262863" y="7345680"/>
                  </a:lnTo>
                  <a:lnTo>
                    <a:pt x="0" y="734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421856" y="4736306"/>
            <a:ext cx="402908" cy="402908"/>
            <a:chOff x="0" y="0"/>
            <a:chExt cx="537210" cy="5372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429000" y="4760595"/>
            <a:ext cx="388620" cy="354330"/>
            <a:chOff x="0" y="0"/>
            <a:chExt cx="518160" cy="472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458700" y="305181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01 / PATIENT CONTEXT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8700" y="345186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Case inputs alongside the model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279356" y="4736306"/>
            <a:ext cx="402908" cy="402908"/>
            <a:chOff x="0" y="0"/>
            <a:chExt cx="537210" cy="5372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286500" y="4760595"/>
            <a:ext cx="388620" cy="354330"/>
            <a:chOff x="0" y="0"/>
            <a:chExt cx="518160" cy="472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458700" y="420624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02 / EXPOSURE TRAJECTORY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58700" y="460629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Concentration and uncertainty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708356" y="4736306"/>
            <a:ext cx="402908" cy="402908"/>
            <a:chOff x="0" y="0"/>
            <a:chExt cx="537210" cy="5372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715500" y="4760595"/>
            <a:ext cx="388620" cy="354330"/>
            <a:chOff x="0" y="0"/>
            <a:chExt cx="518160" cy="472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458700" y="536067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03 / SCENARIO CONTROLS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58700" y="576072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Settings for a reviewable comparison</a:t>
            </a:r>
          </a:p>
        </p:txBody>
      </p:sp>
      <p:sp>
        <p:nvSpPr>
          <p:cNvPr name="AutoShape 33" id="33"/>
          <p:cNvSpPr/>
          <p:nvPr/>
        </p:nvSpPr>
        <p:spPr>
          <a:xfrm rot="8580">
            <a:off x="12452347" y="6773228"/>
            <a:ext cx="508763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2458700" y="701802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NEXT ENGINEERING MILESTONE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58700" y="7545705"/>
            <a:ext cx="507492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Reproduce one model evaluation with specialist feedback.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2950" y="9029700"/>
            <a:ext cx="168021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Patient context, concentration trajectories and scenario controls in one interface.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07 / TARGET USERS &amp; USE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Start with the people who review complex dosing decisions.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07 / 12</a:t>
            </a:r>
          </a:p>
        </p:txBody>
      </p:sp>
      <p:sp>
        <p:nvSpPr>
          <p:cNvPr name="AutoShape 7" id="7"/>
          <p:cNvSpPr/>
          <p:nvPr/>
        </p:nvSpPr>
        <p:spPr>
          <a:xfrm rot="8460">
            <a:off x="736597" y="3058478"/>
            <a:ext cx="5156216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4295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CLINICAL PHARMACISTS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Connect changing labs and medicines to exposure scenarios.</a:t>
            </a:r>
          </a:p>
        </p:txBody>
      </p:sp>
      <p:sp>
        <p:nvSpPr>
          <p:cNvPr name="AutoShape 10" id="10"/>
          <p:cNvSpPr/>
          <p:nvPr/>
        </p:nvSpPr>
        <p:spPr>
          <a:xfrm rot="8460">
            <a:off x="6508747" y="3058478"/>
            <a:ext cx="5156216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51510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SPECIALIST CLINICIANS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510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Review uncertainty in a focused clinical use case.</a:t>
            </a:r>
          </a:p>
        </p:txBody>
      </p:sp>
      <p:sp>
        <p:nvSpPr>
          <p:cNvPr name="AutoShape 13" id="13"/>
          <p:cNvSpPr/>
          <p:nvPr/>
        </p:nvSpPr>
        <p:spPr>
          <a:xfrm rot="8460">
            <a:off x="12280897" y="3058478"/>
            <a:ext cx="5156216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28725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HOSPITAL CLINICAL + IT TEAMS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725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Assess workflow fit, governance and local operation.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" y="69951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ONE USE-CASE JOURNEY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NEW CLINICAL INPUT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86275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43475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UPDATED SIMULATION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86800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SCENARIO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87325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44525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RECORDED DECISION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7680">
            <a:off x="11766547" y="3321367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680">
            <a:off x="11766547" y="411003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680">
            <a:off x="11766547" y="489870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7680">
            <a:off x="11766547" y="568737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35806" y="8188166"/>
            <a:ext cx="722948" cy="722948"/>
            <a:chOff x="0" y="0"/>
            <a:chExt cx="963930" cy="9639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3930" cy="963930"/>
            </a:xfrm>
            <a:custGeom>
              <a:avLst/>
              <a:gdLst/>
              <a:ahLst/>
              <a:cxnLst/>
              <a:rect r="r" b="b" t="t" l="l"/>
              <a:pathLst>
                <a:path h="963930" w="963930">
                  <a:moveTo>
                    <a:pt x="0" y="481965"/>
                  </a:moveTo>
                  <a:cubicBezTo>
                    <a:pt x="0" y="215773"/>
                    <a:pt x="215773" y="0"/>
                    <a:pt x="481965" y="0"/>
                  </a:cubicBezTo>
                  <a:cubicBezTo>
                    <a:pt x="748157" y="0"/>
                    <a:pt x="963930" y="215773"/>
                    <a:pt x="963930" y="481965"/>
                  </a:cubicBezTo>
                  <a:cubicBezTo>
                    <a:pt x="963930" y="748157"/>
                    <a:pt x="748157" y="963930"/>
                    <a:pt x="481965" y="963930"/>
                  </a:cubicBezTo>
                  <a:cubicBezTo>
                    <a:pt x="215773" y="963930"/>
                    <a:pt x="0" y="748157"/>
                    <a:pt x="0" y="4819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950" y="8212455"/>
            <a:ext cx="708660" cy="674370"/>
            <a:chOff x="0" y="0"/>
            <a:chExt cx="944880" cy="899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4880" cy="899160"/>
            </a:xfrm>
            <a:custGeom>
              <a:avLst/>
              <a:gdLst/>
              <a:ahLst/>
              <a:cxnLst/>
              <a:rect r="r" b="b" t="t" l="l"/>
              <a:pathLst>
                <a:path h="899160" w="944880">
                  <a:moveTo>
                    <a:pt x="0" y="0"/>
                  </a:moveTo>
                  <a:lnTo>
                    <a:pt x="944880" y="0"/>
                  </a:lnTo>
                  <a:lnTo>
                    <a:pt x="944880" y="899160"/>
                  </a:lnTo>
                  <a:lnTo>
                    <a:pt x="0" y="899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095" t="0" r="-7209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4488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08306" y="8188166"/>
            <a:ext cx="722948" cy="722948"/>
            <a:chOff x="0" y="0"/>
            <a:chExt cx="963930" cy="963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3930" cy="963930"/>
            </a:xfrm>
            <a:custGeom>
              <a:avLst/>
              <a:gdLst/>
              <a:ahLst/>
              <a:cxnLst/>
              <a:rect r="r" b="b" t="t" l="l"/>
              <a:pathLst>
                <a:path h="963930" w="963930">
                  <a:moveTo>
                    <a:pt x="0" y="481965"/>
                  </a:moveTo>
                  <a:cubicBezTo>
                    <a:pt x="0" y="215773"/>
                    <a:pt x="215773" y="0"/>
                    <a:pt x="481965" y="0"/>
                  </a:cubicBezTo>
                  <a:cubicBezTo>
                    <a:pt x="748157" y="0"/>
                    <a:pt x="963930" y="215773"/>
                    <a:pt x="963930" y="481965"/>
                  </a:cubicBezTo>
                  <a:cubicBezTo>
                    <a:pt x="963930" y="748157"/>
                    <a:pt x="748157" y="963930"/>
                    <a:pt x="481965" y="963930"/>
                  </a:cubicBezTo>
                  <a:cubicBezTo>
                    <a:pt x="215773" y="963930"/>
                    <a:pt x="0" y="748157"/>
                    <a:pt x="0" y="4819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315450" y="8212455"/>
            <a:ext cx="708660" cy="674370"/>
            <a:chOff x="0" y="0"/>
            <a:chExt cx="944880" cy="899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4880" cy="899160"/>
            </a:xfrm>
            <a:custGeom>
              <a:avLst/>
              <a:gdLst/>
              <a:ahLst/>
              <a:cxnLst/>
              <a:rect r="r" b="b" t="t" l="l"/>
              <a:pathLst>
                <a:path h="899160" w="944880">
                  <a:moveTo>
                    <a:pt x="0" y="0"/>
                  </a:moveTo>
                  <a:lnTo>
                    <a:pt x="944880" y="0"/>
                  </a:lnTo>
                  <a:lnTo>
                    <a:pt x="944880" y="899160"/>
                  </a:lnTo>
                  <a:lnTo>
                    <a:pt x="0" y="899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095" t="0" r="-7209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4488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48434" y="7972275"/>
            <a:ext cx="1160532" cy="1154729"/>
          </a:xfrm>
          <a:custGeom>
            <a:avLst/>
            <a:gdLst/>
            <a:ahLst/>
            <a:cxnLst/>
            <a:rect r="r" b="b" t="t" l="l"/>
            <a:pathLst>
              <a:path h="1154729" w="1160532">
                <a:moveTo>
                  <a:pt x="0" y="0"/>
                </a:moveTo>
                <a:lnTo>
                  <a:pt x="1160532" y="0"/>
                </a:lnTo>
                <a:lnTo>
                  <a:pt x="1160532" y="1154730"/>
                </a:lnTo>
                <a:lnTo>
                  <a:pt x="0" y="1154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18645" y="8033385"/>
            <a:ext cx="1102270" cy="1096758"/>
          </a:xfrm>
          <a:custGeom>
            <a:avLst/>
            <a:gdLst/>
            <a:ahLst/>
            <a:cxnLst/>
            <a:rect r="r" b="b" t="t" l="l"/>
            <a:pathLst>
              <a:path h="1096758" w="1102270">
                <a:moveTo>
                  <a:pt x="0" y="0"/>
                </a:moveTo>
                <a:lnTo>
                  <a:pt x="1102270" y="0"/>
                </a:lnTo>
                <a:lnTo>
                  <a:pt x="1102270" y="1096758"/>
                </a:lnTo>
                <a:lnTo>
                  <a:pt x="0" y="10967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08 / IMPACT &amp; OUTCOMES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Make uncertainty visible and review quality measurable.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08 / 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950" y="2708910"/>
            <a:ext cx="9715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72900" y="2708910"/>
            <a:ext cx="5715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VALIDATION METRICS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2950" y="338328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Clearer scenario review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395478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Patient context and exposure shown together.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2950" y="474345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Visible uncertainty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2950" y="531495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Review the range around a prediction.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2950" y="6103620"/>
            <a:ext cx="36250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Traceable decisions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2950" y="667512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Connect each review to its inputs and model.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2900" y="353377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Prediction error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72900" y="432244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Interval calibration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72900" y="511111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Safety-gate behavior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72900" y="589978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Clinical review time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5930" y="8206740"/>
            <a:ext cx="685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SDG 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25930" y="8641080"/>
            <a:ext cx="6858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Good Health &amp; Well-Being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98430" y="8206740"/>
            <a:ext cx="685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SDG 9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98430" y="8641080"/>
            <a:ext cx="6858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Industry, Innovation &amp;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09 / BUSINESS MODEL &amp;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Begin with one use case, then expand through validation.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09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9748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PATH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456146"/>
            <a:ext cx="642938" cy="642938"/>
            <a:chOff x="0" y="0"/>
            <a:chExt cx="857250" cy="857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480435"/>
            <a:ext cx="628650" cy="594360"/>
            <a:chOff x="0" y="0"/>
            <a:chExt cx="838200" cy="792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19020">
            <a:off x="1593828" y="3778567"/>
            <a:ext cx="2298735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42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Synthetic proof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Reproduce outputs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64806" y="3456146"/>
            <a:ext cx="642938" cy="642938"/>
            <a:chOff x="0" y="0"/>
            <a:chExt cx="857250" cy="857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71950" y="3480435"/>
            <a:ext cx="628650" cy="594360"/>
            <a:chOff x="0" y="0"/>
            <a:chExt cx="838200" cy="792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9020">
            <a:off x="5022828" y="3778567"/>
            <a:ext cx="2298735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4171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Retrospective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71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Model evaluation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93806" y="3456146"/>
            <a:ext cx="642938" cy="642938"/>
            <a:chOff x="0" y="0"/>
            <a:chExt cx="85725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00950" y="3480435"/>
            <a:ext cx="628650" cy="594360"/>
            <a:chOff x="0" y="0"/>
            <a:chExt cx="838200" cy="79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19020">
            <a:off x="8451828" y="3778567"/>
            <a:ext cx="2298735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600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Shadow-mode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00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Clinician review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2806" y="3456146"/>
            <a:ext cx="642938" cy="642938"/>
            <a:chOff x="0" y="0"/>
            <a:chExt cx="857250" cy="85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029950" y="3480435"/>
            <a:ext cx="628650" cy="594360"/>
            <a:chOff x="0" y="0"/>
            <a:chExt cx="838200" cy="792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19020">
            <a:off x="11880828" y="3778567"/>
            <a:ext cx="2298735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1029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Site readiness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29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Local governance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51806" y="3456146"/>
            <a:ext cx="642938" cy="642938"/>
            <a:chOff x="0" y="0"/>
            <a:chExt cx="857250" cy="857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326E7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8950" y="3480435"/>
            <a:ext cx="628650" cy="594360"/>
            <a:chOff x="0" y="0"/>
            <a:chExt cx="838200" cy="79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326E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19020">
            <a:off x="15309828" y="3778567"/>
            <a:ext cx="2298735" cy="0"/>
          </a:xfrm>
          <a:prstGeom prst="line">
            <a:avLst/>
          </a:prstGeom>
          <a:ln cap="rnd" w="9525">
            <a:solidFill>
              <a:srgbClr val="326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4458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Validated modules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58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Careful expansion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42950" y="698373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DEPLOYMENT MODEL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2950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HOSPITAL SITE LICENSE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86275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943475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LOCAL INTEGRATION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686800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0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VALIDATED MODULES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887325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344525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SUPPORT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42950" y="8536305"/>
            <a:ext cx="168021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hospital-centered model pairs local deployment with implementation and continuing support.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10 / FEASIBILITY &amp; SCALABILITY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 reusable platform needs careful clinical boundaries.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10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1747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ENGINEERING VALIDATION PRIORITIES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3143250"/>
            <a:ext cx="168021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Model fit  ·  Input quality  ·  Uncertainty  ·  Local security  ·  Clinical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091940"/>
            <a:ext cx="4343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6350" y="4091940"/>
            <a:ext cx="5372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0" y="4091940"/>
            <a:ext cx="6972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ENGINEERING RESPONSE</a:t>
            </a:r>
          </a:p>
        </p:txBody>
      </p:sp>
      <p:sp>
        <p:nvSpPr>
          <p:cNvPr name="AutoShape 12" id="12"/>
          <p:cNvSpPr/>
          <p:nvPr/>
        </p:nvSpPr>
        <p:spPr>
          <a:xfrm rot="2580">
            <a:off x="736597" y="45672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42950" y="482346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Model mismatch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6350" y="482346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Misleading exposure estimate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5600" y="482346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External and subgroup validation</a:t>
            </a:r>
          </a:p>
        </p:txBody>
      </p:sp>
      <p:sp>
        <p:nvSpPr>
          <p:cNvPr name="AutoShape 16" id="16"/>
          <p:cNvSpPr/>
          <p:nvPr/>
        </p:nvSpPr>
        <p:spPr>
          <a:xfrm rot="2580">
            <a:off x="736597" y="5447347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42950" y="564642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Stale inputs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86350" y="564642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False confidence in a scenario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15600" y="564642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Data-quality gate + abstention</a:t>
            </a:r>
          </a:p>
        </p:txBody>
      </p:sp>
      <p:sp>
        <p:nvSpPr>
          <p:cNvPr name="AutoShape 20" id="20"/>
          <p:cNvSpPr/>
          <p:nvPr/>
        </p:nvSpPr>
        <p:spPr>
          <a:xfrm rot="2580">
            <a:off x="736597" y="627030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42950" y="646938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Record security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86350" y="646938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Sensitive clinical information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15600" y="646938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Access control + recovery + audit</a:t>
            </a:r>
          </a:p>
        </p:txBody>
      </p:sp>
      <p:sp>
        <p:nvSpPr>
          <p:cNvPr name="AutoShape 24" id="24"/>
          <p:cNvSpPr/>
          <p:nvPr/>
        </p:nvSpPr>
        <p:spPr>
          <a:xfrm rot="2580">
            <a:off x="736597" y="709326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742950" y="786384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SCALABILITY PATH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ONE USE CASE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86275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43475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VALIDATED MODEL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86800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SITE EVALUATION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87325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44525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ADDITIONAL MODULES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11 / COMPETITIVE ADVANTAGE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 clearer decision starts with an inspectable simulation.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11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3122295"/>
            <a:ext cx="6858000" cy="355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326E70"/>
                </a:solidFill>
                <a:latin typeface="Georgia"/>
                <a:ea typeface="Georgia"/>
                <a:cs typeface="Georgia"/>
                <a:sym typeface="Georgia"/>
              </a:rPr>
              <a:t>A curve is useful</a:t>
            </a:r>
          </a:p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326E70"/>
                </a:solidFill>
                <a:latin typeface="Georgia"/>
                <a:ea typeface="Georgia"/>
                <a:cs typeface="Georgia"/>
                <a:sym typeface="Georgia"/>
              </a:rPr>
              <a:t>when a clinician</a:t>
            </a:r>
          </a:p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326E70"/>
                </a:solidFill>
                <a:latin typeface="Georgia"/>
                <a:ea typeface="Georgia"/>
                <a:cs typeface="Georgia"/>
                <a:sym typeface="Georgia"/>
              </a:rPr>
              <a:t>can inspect it.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1000" y="308610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72550" y="308610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Patient and model, together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72550" y="373570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The workbench places patient context beside the exposure curve.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0" y="475488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2550" y="475488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Uncertainty inside the 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2550" y="540448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scenario includes a range, not just a single estimate.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1000" y="642366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2550" y="642366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Clinician-led architecture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72550" y="707326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Simulation and explanation support a human decision.</a:t>
            </a:r>
          </a:p>
        </p:txBody>
      </p:sp>
      <p:sp>
        <p:nvSpPr>
          <p:cNvPr name="AutoShape 17" id="17"/>
          <p:cNvSpPr/>
          <p:nvPr/>
        </p:nvSpPr>
        <p:spPr>
          <a:xfrm rot="2580">
            <a:off x="736597" y="81105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42950" y="841248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FUTURE DIRECTION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2950" y="8894445"/>
            <a:ext cx="168021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Model evaluation → specialist feedback → shadow-mode review → validated modules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12 / TEAM &amp; VISION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Start with one medicine. Prove it carefully.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PRIVAVEDA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12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63190"/>
            <a:ext cx="8115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THE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3383280"/>
            <a:ext cx="8001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Pranav Kumar Mishra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3956685"/>
            <a:ext cx="800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326E70"/>
                </a:solidFill>
                <a:latin typeface="Aptos"/>
                <a:ea typeface="Aptos"/>
                <a:cs typeface="Aptos"/>
                <a:sym typeface="Aptos"/>
              </a:rPr>
              <a:t>Team Lead / Project Lead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950" y="4573905"/>
            <a:ext cx="8001000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Project leadership, software architecture and the simulation workflow.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6900" y="2663190"/>
            <a:ext cx="8001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WHERE WE TAKE THIS NEXT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6900" y="340614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78440" y="340614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Evaluate one focused model.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6900" y="422910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78440" y="422910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Document uncertainty and failure cases.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6900" y="505206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78440" y="505206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Work with clinical specialists.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6900" y="587502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78440" y="587502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Expand through validated modules.</a:t>
            </a:r>
          </a:p>
        </p:txBody>
      </p:sp>
      <p:sp>
        <p:nvSpPr>
          <p:cNvPr name="AutoShape 20" id="20"/>
          <p:cNvSpPr/>
          <p:nvPr/>
        </p:nvSpPr>
        <p:spPr>
          <a:xfrm rot="2580">
            <a:off x="736597" y="79390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42950" y="8263890"/>
            <a:ext cx="168021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249">
                <a:solidFill>
                  <a:srgbClr val="326E70"/>
                </a:solidFill>
                <a:latin typeface="Georgia"/>
                <a:ea typeface="Georgia"/>
                <a:cs typeface="Georgia"/>
                <a:sym typeface="Georgia"/>
              </a:rPr>
              <a:t>Make patient-specific simulations easier to understand, one validated use case at a time.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2950" y="917829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26E70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DAHUtoYTY6E</dc:identifier>
  <dcterms:modified xsi:type="dcterms:W3CDTF">2011-08-01T06:04:30Z</dcterms:modified>
  <cp:revision>1</cp:revision>
  <dc:title>Privaveda_FINAL.pptx</dc:title>
</cp:coreProperties>
</file>